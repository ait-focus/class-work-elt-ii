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62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EB0A6-E392-4CD0-966A-E60FC694C89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AF819-8F80-4FA6-A810-BDF7BF05CC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EB0A6-E392-4CD0-966A-E60FC694C89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AF819-8F80-4FA6-A810-BDF7BF05CC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EB0A6-E392-4CD0-966A-E60FC694C89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AF819-8F80-4FA6-A810-BDF7BF05CC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EB0A6-E392-4CD0-966A-E60FC694C89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AF819-8F80-4FA6-A810-BDF7BF05CC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EB0A6-E392-4CD0-966A-E60FC694C89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AF819-8F80-4FA6-A810-BDF7BF05CC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EB0A6-E392-4CD0-966A-E60FC694C89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AF819-8F80-4FA6-A810-BDF7BF05CC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EB0A6-E392-4CD0-966A-E60FC694C89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AF819-8F80-4FA6-A810-BDF7BF05CC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EB0A6-E392-4CD0-966A-E60FC694C89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AF819-8F80-4FA6-A810-BDF7BF05CC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EB0A6-E392-4CD0-966A-E60FC694C89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AF819-8F80-4FA6-A810-BDF7BF05CC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EB0A6-E392-4CD0-966A-E60FC694C89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AF819-8F80-4FA6-A810-BDF7BF05CC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EB0A6-E392-4CD0-966A-E60FC694C89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AF819-8F80-4FA6-A810-BDF7BF05CC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EB0A6-E392-4CD0-966A-E60FC694C89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AF819-8F80-4FA6-A810-BDF7BF05CC18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Bismillah-2 | Arabic Calligraphy, Bismillah | Quranic Resources | Flick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371600"/>
            <a:ext cx="5943600" cy="2971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914400"/>
            <a:ext cx="8153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000" b="1" u="sng" dirty="0"/>
              <a:t>Level of Integration (SSI, MSI, LSI</a:t>
            </a:r>
            <a:r>
              <a:rPr lang="en-US" sz="4000" dirty="0"/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133600"/>
            <a:ext cx="7620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This is comprehensive </a:t>
            </a:r>
            <a:r>
              <a:rPr lang="en-US" sz="2800" dirty="0"/>
              <a:t>introduction to integrated circuit technologies, including SSI, MSI, LSI, VLSI, ULSI, and GSI. They are marked by the level of integration, which is mainly the number of transistors integrated.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791200"/>
            <a:ext cx="7543800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 ,2 YEAR-A                                                                                   ELT-2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Evolution of 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676400"/>
            <a:ext cx="7467600" cy="3733800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685800" y="609600"/>
            <a:ext cx="7696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u="sng" dirty="0" smtClean="0"/>
              <a:t>Level of Integration (SSI, MSI, LSI,VLSI.)</a:t>
            </a:r>
            <a:endParaRPr lang="en-US" sz="32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6172200"/>
            <a:ext cx="7924800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 ,2 YEAR-A                                                                                   ELT-2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media.licdn.com/dms/image/v2/D5612AQGjFXxqbLuFoQ/article-cover_image-shrink_600_2000/article-cover_image-shrink_600_2000/0/1711595702040?e=2147483647&amp;v=beta&amp;t=8kmZBJqvd1ZjVGZSK8RvVw2YGDmIgaFwzZcMyrkdIt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85800" y="609600"/>
            <a:ext cx="7924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ctr">
              <a:buAutoNum type="arabicPeriod"/>
            </a:pPr>
            <a:r>
              <a:rPr lang="en-US" sz="3200" b="1" u="sng" dirty="0" smtClean="0"/>
              <a:t>Small </a:t>
            </a:r>
            <a:r>
              <a:rPr lang="en-US" sz="3200" b="1" u="sng" dirty="0"/>
              <a:t>Scale Integration (SSI</a:t>
            </a:r>
            <a:r>
              <a:rPr lang="en-US" sz="3200" b="1" u="sng" dirty="0" smtClean="0"/>
              <a:t>)</a:t>
            </a:r>
          </a:p>
          <a:p>
            <a:pPr marL="514350" indent="-514350" algn="ctr">
              <a:buAutoNum type="arabicPeriod"/>
            </a:pPr>
            <a:endParaRPr lang="en-US" sz="3200" b="1" u="sng" dirty="0"/>
          </a:p>
          <a:p>
            <a:r>
              <a:rPr lang="en-US" sz="3200" dirty="0"/>
              <a:t>Small scale integration is the earliest form of IC technology, integrating </a:t>
            </a:r>
            <a:r>
              <a:rPr lang="en-US" sz="3200" b="1" u="sng" dirty="0">
                <a:solidFill>
                  <a:srgbClr val="FFFF00"/>
                </a:solidFill>
              </a:rPr>
              <a:t>1 to 100 transistors </a:t>
            </a:r>
            <a:r>
              <a:rPr lang="en-US" sz="3200" dirty="0"/>
              <a:t>on a chip. It enables basic electrical functions, and some common applications are basic logic gates, operational amplifiers, and flip-flops.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791200"/>
            <a:ext cx="7620000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 ,2 YEAR-A                                                                                   ELT-2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838200"/>
            <a:ext cx="7467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/>
              <a:t>2. Medium Scale Integration (MSI</a:t>
            </a:r>
            <a:r>
              <a:rPr lang="en-US" sz="2800" b="1" u="sng" dirty="0" smtClean="0"/>
              <a:t>) </a:t>
            </a:r>
          </a:p>
          <a:p>
            <a:pPr algn="ctr"/>
            <a:endParaRPr lang="en-US" sz="2800" b="1" u="sng" dirty="0"/>
          </a:p>
          <a:p>
            <a:r>
              <a:rPr lang="en-US" sz="2800" dirty="0"/>
              <a:t>Medium scale integration incorporates </a:t>
            </a:r>
            <a:r>
              <a:rPr lang="en-US" sz="2800" b="1" u="sng" dirty="0">
                <a:solidFill>
                  <a:srgbClr val="FFFF00"/>
                </a:solidFill>
              </a:rPr>
              <a:t>100-1000 transistors </a:t>
            </a:r>
            <a:r>
              <a:rPr lang="en-US" sz="2800" dirty="0"/>
              <a:t>on a single IC chip. </a:t>
            </a:r>
            <a:r>
              <a:rPr lang="en-US" sz="2800" dirty="0" smtClean="0"/>
              <a:t> </a:t>
            </a:r>
            <a:r>
              <a:rPr lang="en-US" sz="2800" dirty="0"/>
              <a:t>Some of its applications are multiplexers (MUX), counters, adders, and 4-bit microprocessors.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6019800"/>
            <a:ext cx="7391400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 ,2 YEAR-A                                                                                   ELT-2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914400"/>
            <a:ext cx="73152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/>
              <a:t>3. Large Scale Integration (LSI</a:t>
            </a:r>
            <a:r>
              <a:rPr lang="en-US" sz="2800" b="1" u="sng" dirty="0" smtClean="0"/>
              <a:t>)</a:t>
            </a:r>
          </a:p>
          <a:p>
            <a:pPr algn="ctr"/>
            <a:endParaRPr lang="en-US" sz="2800" b="1" u="sng" dirty="0"/>
          </a:p>
          <a:p>
            <a:r>
              <a:rPr lang="en-US" sz="2800" dirty="0"/>
              <a:t>Large scale integration is a revolutionary step in IC technologies by accommodating </a:t>
            </a:r>
            <a:r>
              <a:rPr lang="en-US" sz="2800" b="1" u="sng" dirty="0">
                <a:solidFill>
                  <a:srgbClr val="FFFF00"/>
                </a:solidFill>
              </a:rPr>
              <a:t>1000 to 10000 transistors</a:t>
            </a:r>
            <a:r>
              <a:rPr lang="en-US" sz="2800" dirty="0"/>
              <a:t> on an IC chip. This IC technology enables more advanced components, like 8-bit microprocessors, ROM (read-only memories), and RAM (random-access memories).</a:t>
            </a:r>
          </a:p>
          <a:p>
            <a:r>
              <a:rPr lang="en-US" sz="2800" dirty="0"/>
              <a:t>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715000"/>
            <a:ext cx="7315200" cy="38100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 ,2 YEAR-A                                                                                   ELT-2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56C316BA6F9449A2F726CCA3E44004" ma:contentTypeVersion="11" ma:contentTypeDescription="Create a new document." ma:contentTypeScope="" ma:versionID="67739e5a04e42ebfd497b1a68401a993">
  <xsd:schema xmlns:xsd="http://www.w3.org/2001/XMLSchema" xmlns:xs="http://www.w3.org/2001/XMLSchema" xmlns:p="http://schemas.microsoft.com/office/2006/metadata/properties" xmlns:ns2="fc7da1f0-6d58-44bd-9d93-a988c4590f59" xmlns:ns3="e5fce955-6e62-4519-9143-34cd4c0117c4" targetNamespace="http://schemas.microsoft.com/office/2006/metadata/properties" ma:root="true" ma:fieldsID="7323a62418a3d4eb240c2b8f87a128c7" ns2:_="" ns3:_="">
    <xsd:import namespace="fc7da1f0-6d58-44bd-9d93-a988c4590f59"/>
    <xsd:import namespace="e5fce955-6e62-4519-9143-34cd4c01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7da1f0-6d58-44bd-9d93-a988c4590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ecaf37-f932-4642-a22a-9023f16d92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ce955-6e62-4519-9143-34cd4c0117c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f37def0-da8e-4621-a0b3-e3a231c71cbf}" ma:internalName="TaxCatchAll" ma:showField="CatchAllData" ma:web="e5fce955-6e62-4519-9143-34cd4c0117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7da1f0-6d58-44bd-9d93-a988c4590f59">
      <Terms xmlns="http://schemas.microsoft.com/office/infopath/2007/PartnerControls"/>
    </lcf76f155ced4ddcb4097134ff3c332f>
    <TaxCatchAll xmlns="e5fce955-6e62-4519-9143-34cd4c0117c4" xsi:nil="true"/>
  </documentManagement>
</p:properties>
</file>

<file path=customXml/itemProps1.xml><?xml version="1.0" encoding="utf-8"?>
<ds:datastoreItem xmlns:ds="http://schemas.openxmlformats.org/officeDocument/2006/customXml" ds:itemID="{D602A800-0FC9-45D3-AC4C-D930AEE1589F}"/>
</file>

<file path=customXml/itemProps2.xml><?xml version="1.0" encoding="utf-8"?>
<ds:datastoreItem xmlns:ds="http://schemas.openxmlformats.org/officeDocument/2006/customXml" ds:itemID="{9BD17FA1-EF6A-4185-A137-3830F3C0747F}"/>
</file>

<file path=customXml/itemProps3.xml><?xml version="1.0" encoding="utf-8"?>
<ds:datastoreItem xmlns:ds="http://schemas.openxmlformats.org/officeDocument/2006/customXml" ds:itemID="{3F49B485-6162-4D3E-AB8C-4D4C856ADDAC}"/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188</Words>
  <Application>Microsoft Office PowerPoint</Application>
  <PresentationFormat>On-screen Show (4:3)</PresentationFormat>
  <Paragraphs>18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xp11</dc:creator>
  <cp:lastModifiedBy>xp11</cp:lastModifiedBy>
  <cp:revision>3</cp:revision>
  <dcterms:created xsi:type="dcterms:W3CDTF">2026-02-25T01:09:34Z</dcterms:created>
  <dcterms:modified xsi:type="dcterms:W3CDTF">2026-02-25T01:47:27Z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0x010100A956C316BA6F9449A2F726CCA3E44004</vt:lpwstr>
  </property>
</Properties>
</file>