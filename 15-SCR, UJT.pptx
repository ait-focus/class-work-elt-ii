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69" r:id="rId2"/>
    <p:sldId id="267" r:id="rId3"/>
    <p:sldId id="260" r:id="rId4"/>
    <p:sldId id="261" r:id="rId5"/>
    <p:sldId id="262" r:id="rId6"/>
    <p:sldId id="263" r:id="rId7"/>
    <p:sldId id="264" r:id="rId8"/>
    <p:sldId id="265" r:id="rId9"/>
    <p:sldId id="268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6023A39C-1E05-40CE-86A4-F52968AF1132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99C1621D-6103-4B00-BD98-5F1E0DCD09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023A39C-1E05-40CE-86A4-F52968AF1132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9C1621D-6103-4B00-BD98-5F1E0DCD09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6023A39C-1E05-40CE-86A4-F52968AF1132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99C1621D-6103-4B00-BD98-5F1E0DCD09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023A39C-1E05-40CE-86A4-F52968AF1132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99C1621D-6103-4B00-BD98-5F1E0DCD09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023A39C-1E05-40CE-86A4-F52968AF1132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99C1621D-6103-4B00-BD98-5F1E0DCD09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023A39C-1E05-40CE-86A4-F52968AF1132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9C1621D-6103-4B00-BD98-5F1E0DCD09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023A39C-1E05-40CE-86A4-F52968AF1132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9C1621D-6103-4B00-BD98-5F1E0DCD09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6023A39C-1E05-40CE-86A4-F52968AF1132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99C1621D-6103-4B00-BD98-5F1E0DCD09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6023A39C-1E05-40CE-86A4-F52968AF1132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99C1621D-6103-4B00-BD98-5F1E0DCD09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023A39C-1E05-40CE-86A4-F52968AF1132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9C1621D-6103-4B00-BD98-5F1E0DCD09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023A39C-1E05-40CE-86A4-F52968AF1132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9C1621D-6103-4B00-BD98-5F1E0DCD09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6023A39C-1E05-40CE-86A4-F52968AF1132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99C1621D-6103-4B00-BD98-5F1E0DCD09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en.wikipedia.org/wiki/General_Electric" TargetMode="External"/><Relationship Id="rId7" Type="http://schemas.openxmlformats.org/officeDocument/2006/relationships/hyperlink" Target="https://en.wikipedia.org/wiki/Electronic_symbol" TargetMode="External"/><Relationship Id="rId2" Type="http://schemas.openxmlformats.org/officeDocument/2006/relationships/hyperlink" Target="https://en.wikipedia.org/wiki/Electronic_component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wikipedia.org/wiki/Cathode" TargetMode="External"/><Relationship Id="rId5" Type="http://schemas.openxmlformats.org/officeDocument/2006/relationships/hyperlink" Target="https://en.wikipedia.org/wiki/Gate" TargetMode="External"/><Relationship Id="rId4" Type="http://schemas.openxmlformats.org/officeDocument/2006/relationships/hyperlink" Target="https://en.wikipedia.org/wiki/Anod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 descr="scr_anim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48" name="AutoShape 4" descr="scr_anim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100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800" y="1371600"/>
            <a:ext cx="6934200" cy="4114800"/>
          </a:xfrm>
          <a:prstGeom prst="rect">
            <a:avLst/>
          </a:prstGeom>
          <a:ln w="88900" cap="sq" cmpd="thickThin">
            <a:solidFill>
              <a:srgbClr val="00B0F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TextBox 4"/>
          <p:cNvSpPr txBox="1"/>
          <p:nvPr/>
        </p:nvSpPr>
        <p:spPr>
          <a:xfrm>
            <a:off x="1066800" y="685800"/>
            <a:ext cx="716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/>
              <a:t>SILICON CONTROLLED RECTIFIER</a:t>
            </a:r>
            <a:endParaRPr lang="en-US" sz="2400" b="1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228601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u="sng" dirty="0" smtClean="0"/>
              <a:t>SCR</a:t>
            </a:r>
            <a:r>
              <a:rPr lang="en-US" sz="4400" dirty="0" smtClean="0"/>
              <a:t>.</a:t>
            </a:r>
            <a:endParaRPr lang="en-US" sz="44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143001"/>
          <a:ext cx="7543800" cy="4713953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3657600"/>
                <a:gridCol w="3886200"/>
              </a:tblGrid>
              <a:tr h="609599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Type</a:t>
                      </a: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>
                          <a:solidFill>
                            <a:srgbClr val="FF0000"/>
                          </a:solidFill>
                          <a:hlinkClick r:id="rId2" tooltip="Electronic component"/>
                        </a:rPr>
                        <a:t>Active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Inventor</a:t>
                      </a: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Gordon Hall and Frank W. "</a:t>
                      </a:r>
                      <a:r>
                        <a:rPr lang="en-US" dirty="0" smtClean="0"/>
                        <a:t>Bill”</a:t>
                      </a:r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6214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First production </a:t>
                      </a: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>
                          <a:hlinkClick r:id="rId3" tooltip="General Electric"/>
                        </a:rPr>
                        <a:t>General Electric</a:t>
                      </a:r>
                      <a:r>
                        <a:rPr lang="en-US" dirty="0"/>
                        <a:t>, 1957</a:t>
                      </a: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6826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Pin names</a:t>
                      </a: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u="none" strike="noStrike" dirty="0">
                          <a:hlinkClick r:id="rId4" tooltip="Anode"/>
                        </a:rPr>
                        <a:t>Anode</a:t>
                      </a:r>
                      <a:r>
                        <a:rPr lang="en-US" dirty="0"/>
                        <a:t>, </a:t>
                      </a:r>
                      <a:r>
                        <a:rPr lang="en-US" u="none" strike="noStrike" dirty="0">
                          <a:hlinkClick r:id="rId5" tooltip="Gate"/>
                        </a:rPr>
                        <a:t>gate</a:t>
                      </a:r>
                      <a:r>
                        <a:rPr lang="en-US" dirty="0"/>
                        <a:t> and </a:t>
                      </a:r>
                      <a:r>
                        <a:rPr lang="en-US" u="none" strike="noStrike" dirty="0">
                          <a:hlinkClick r:id="rId6" tooltip="Cathode"/>
                        </a:rPr>
                        <a:t>cathode</a:t>
                      </a:r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421926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u="none" strike="noStrike" dirty="0">
                          <a:hlinkClick r:id="rId7" tooltip="Electronic symbol"/>
                        </a:rPr>
                        <a:t>Electronic </a:t>
                      </a:r>
                      <a:r>
                        <a:rPr lang="en-US" u="none" strike="noStrike" dirty="0" smtClean="0">
                          <a:hlinkClick r:id="rId7" tooltip="Electronic symbol"/>
                        </a:rPr>
                        <a:t>symbol</a:t>
                      </a:r>
                      <a:endParaRPr lang="en-US" u="none" strike="noStrike" dirty="0" smtClean="0"/>
                    </a:p>
                    <a:p>
                      <a:pPr algn="ctr" fontAlgn="t"/>
                      <a:endParaRPr lang="en-US" u="none" strike="noStrike" dirty="0" smtClean="0"/>
                    </a:p>
                    <a:p>
                      <a:pPr algn="ctr" fontAlgn="t"/>
                      <a:endParaRPr lang="en-US" u="none" strike="noStrike" dirty="0" smtClean="0"/>
                    </a:p>
                    <a:p>
                      <a:pPr algn="ctr" fontAlgn="t"/>
                      <a:endParaRPr lang="en-US" u="none" strike="noStrike" dirty="0" smtClean="0"/>
                    </a:p>
                    <a:p>
                      <a:pPr algn="ctr" fontAlgn="t"/>
                      <a:endParaRPr lang="en-US" u="none" strike="noStrike" dirty="0" smtClean="0"/>
                    </a:p>
                    <a:p>
                      <a:pPr algn="ctr" fontAlgn="t"/>
                      <a:endParaRPr lang="en-US" u="none" strike="noStrike" dirty="0" smtClean="0"/>
                    </a:p>
                    <a:p>
                      <a:pPr algn="ctr" fontAlgn="t"/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6" name="Picture 2" descr="https://upload.wikimedia.org/wikipedia/commons/thumb/9/93/Thyristor_circuit_symbol.svg/150px-Thyristor_circuit_symbol.svg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743200" y="4419600"/>
            <a:ext cx="3200400" cy="1276350"/>
          </a:xfrm>
          <a:prstGeom prst="rect">
            <a:avLst/>
          </a:prstGeom>
          <a:ln w="88900" cap="sq" cmpd="thickThin">
            <a:solidFill>
              <a:srgbClr val="C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TextBox 4"/>
          <p:cNvSpPr txBox="1"/>
          <p:nvPr/>
        </p:nvSpPr>
        <p:spPr>
          <a:xfrm>
            <a:off x="990600" y="6248400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CIT. 2</a:t>
            </a:r>
            <a:r>
              <a:rPr lang="en-US" baseline="30000" dirty="0" smtClean="0"/>
              <a:t>nd</a:t>
            </a:r>
            <a:r>
              <a:rPr lang="en-US" dirty="0" smtClean="0"/>
              <a:t>  Year                                                                                  CIT-244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2" descr="https://diodethyristor.com/wp-content/uploads/2023/10/Picture1-1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340" name="Picture 4" descr="What's a Silicon Controlled Rectifier (SCR)? and How it 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381000"/>
            <a:ext cx="5715000" cy="2819400"/>
          </a:xfrm>
          <a:prstGeom prst="rect">
            <a:avLst/>
          </a:prstGeom>
          <a:ln w="88900" cap="sq" cmpd="thickThin">
            <a:solidFill>
              <a:srgbClr val="FFFF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2" descr="https://upload.wikimedia.org/wikipedia/commons/thumb/c/c2/Thyristor_layers.svg/220px-Thyristor_layers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3581400"/>
            <a:ext cx="5715000" cy="2286000"/>
          </a:xfrm>
          <a:prstGeom prst="rect">
            <a:avLst/>
          </a:prstGeom>
          <a:ln w="88900" cap="sq" cmpd="thickThin">
            <a:solidFill>
              <a:srgbClr val="FFFF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TextBox 4"/>
          <p:cNvSpPr txBox="1"/>
          <p:nvPr/>
        </p:nvSpPr>
        <p:spPr>
          <a:xfrm>
            <a:off x="838200" y="6172200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CIT. 2</a:t>
            </a:r>
            <a:r>
              <a:rPr lang="en-US" baseline="30000" dirty="0" smtClean="0"/>
              <a:t>nd</a:t>
            </a:r>
            <a:r>
              <a:rPr lang="en-US" dirty="0" smtClean="0"/>
              <a:t>  Year                                                                                  CIT-244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ChangeArrowheads="1"/>
          </p:cNvSpPr>
          <p:nvPr/>
        </p:nvSpPr>
        <p:spPr bwMode="auto">
          <a:xfrm>
            <a:off x="838200" y="508114"/>
            <a:ext cx="7467600" cy="6617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 dirty="0" smtClean="0">
                <a:ln>
                  <a:noFill/>
                </a:ln>
                <a:solidFill>
                  <a:srgbClr val="233343"/>
                </a:solidFill>
                <a:effectLst/>
                <a:latin typeface="-apple-system"/>
                <a:cs typeface="Arial" pitchFamily="34" charset="0"/>
              </a:rPr>
              <a:t>  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1" u="sng" strike="noStrike" cap="none" normalizeH="0" baseline="0" dirty="0" smtClean="0">
                <a:ln>
                  <a:noFill/>
                </a:ln>
                <a:solidFill>
                  <a:srgbClr val="233343"/>
                </a:solidFill>
                <a:effectLst/>
                <a:latin typeface="-apple-system"/>
                <a:cs typeface="Arial" pitchFamily="34" charset="0"/>
              </a:rPr>
              <a:t>Silicon-Controlled Rectifier (SCR)</a:t>
            </a:r>
            <a:endParaRPr kumimoji="0" lang="en-US" sz="44900" b="1" i="0" u="sng" strike="noStrike" cap="none" normalizeH="0" baseline="0" dirty="0" smtClean="0">
              <a:ln>
                <a:noFill/>
              </a:ln>
              <a:solidFill>
                <a:srgbClr val="233343"/>
              </a:solidFill>
              <a:effectLst/>
              <a:latin typeface="-apple-system"/>
              <a:cs typeface="Arial" pitchFamily="34" charset="0"/>
            </a:endParaRPr>
          </a:p>
        </p:txBody>
      </p:sp>
      <p:pic>
        <p:nvPicPr>
          <p:cNvPr id="29698" name="Picture 2" descr="https://www.allaboutcircuits.com/uploads/articles/silicon-controlled-rectifier-diagra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600200"/>
            <a:ext cx="7486650" cy="4191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TextBox 3"/>
          <p:cNvSpPr txBox="1"/>
          <p:nvPr/>
        </p:nvSpPr>
        <p:spPr>
          <a:xfrm>
            <a:off x="762000" y="6248400"/>
            <a:ext cx="746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CIT. 2</a:t>
            </a:r>
            <a:r>
              <a:rPr lang="en-US" baseline="30000" dirty="0" smtClean="0"/>
              <a:t>nd</a:t>
            </a:r>
            <a:r>
              <a:rPr lang="en-US" dirty="0" smtClean="0"/>
              <a:t>  Year                                                                                  CIT-244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AutoShape 2" descr="A Silicon Controlled Rectifier is a 3 terminal and 4 layer semiconductor current controlling device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762000" y="381000"/>
            <a:ext cx="7620000" cy="17543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 smtClean="0"/>
              <a:t>Modes of Operation in </a:t>
            </a:r>
            <a:r>
              <a:rPr lang="en-US" sz="2400" b="1" u="sng" dirty="0" smtClean="0"/>
              <a:t>SCR</a:t>
            </a:r>
          </a:p>
          <a:p>
            <a:pPr algn="ctr"/>
            <a:endParaRPr lang="en-US" sz="2400" b="1" u="sng" dirty="0" smtClean="0"/>
          </a:p>
          <a:p>
            <a:r>
              <a:rPr lang="en-US" sz="2000" dirty="0" smtClean="0"/>
              <a:t>1</a:t>
            </a:r>
            <a:r>
              <a:rPr lang="en-US" sz="2000" dirty="0" smtClean="0"/>
              <a:t>) Forward Blocking Mode (Off State)</a:t>
            </a:r>
          </a:p>
          <a:p>
            <a:r>
              <a:rPr lang="en-US" sz="2000" dirty="0" smtClean="0"/>
              <a:t>2) Forward Conducting Mode (On State)</a:t>
            </a:r>
          </a:p>
          <a:p>
            <a:r>
              <a:rPr lang="en-US" sz="2000" dirty="0" smtClean="0"/>
              <a:t>3) Reverse Blocking Mode (Off State)</a:t>
            </a:r>
            <a:endParaRPr lang="en-US" dirty="0"/>
          </a:p>
        </p:txBody>
      </p:sp>
      <p:sp>
        <p:nvSpPr>
          <p:cNvPr id="30724" name="AutoShape 4" descr="In this mode of operation, the positive voltage (+) is given to anode (+), negative voltage (-) is given to cathode (-), and gate is open circuited as shown in the below figure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26" name="AutoShape 6" descr="In this mode of operation, the positive voltage (+) is given to anode (+), negative voltage (-) is given to cathode (-), and gate is open circuited as shown in the below figure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forwar-blocking-mode-sc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4400" y="2819400"/>
            <a:ext cx="7239000" cy="2895600"/>
          </a:xfrm>
          <a:prstGeom prst="rect">
            <a:avLst/>
          </a:prstGeom>
          <a:ln w="88900" cap="sq" cmpd="thickThin">
            <a:solidFill>
              <a:srgbClr val="92D05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TextBox 6"/>
          <p:cNvSpPr txBox="1"/>
          <p:nvPr/>
        </p:nvSpPr>
        <p:spPr>
          <a:xfrm>
            <a:off x="838200" y="6096000"/>
            <a:ext cx="746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CIT. 2</a:t>
            </a:r>
            <a:r>
              <a:rPr lang="en-US" baseline="30000" dirty="0" smtClean="0"/>
              <a:t>nd</a:t>
            </a:r>
            <a:r>
              <a:rPr lang="en-US" dirty="0" smtClean="0"/>
              <a:t>  Year                                                                                  CIT-244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ward-conducting-mod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0600" y="1447800"/>
            <a:ext cx="7315200" cy="3886200"/>
          </a:xfrm>
          <a:prstGeom prst="rect">
            <a:avLst/>
          </a:prstGeom>
          <a:ln w="88900" cap="sq" cmpd="thickThin">
            <a:solidFill>
              <a:srgbClr val="00B0F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TextBox 2"/>
          <p:cNvSpPr txBox="1"/>
          <p:nvPr/>
        </p:nvSpPr>
        <p:spPr>
          <a:xfrm>
            <a:off x="1066800" y="5867400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CIT. 2</a:t>
            </a:r>
            <a:r>
              <a:rPr lang="en-US" baseline="30000" dirty="0" smtClean="0"/>
              <a:t>nd</a:t>
            </a:r>
            <a:r>
              <a:rPr lang="en-US" dirty="0" smtClean="0"/>
              <a:t>  Year                                                                                  CIT-244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verseblockingmodeofsc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800" y="1219201"/>
            <a:ext cx="7315200" cy="3986212"/>
          </a:xfrm>
          <a:prstGeom prst="rect">
            <a:avLst/>
          </a:prstGeom>
          <a:ln w="88900" cap="sq" cmpd="thickThin">
            <a:solidFill>
              <a:schemeClr val="accent3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TextBox 2"/>
          <p:cNvSpPr txBox="1"/>
          <p:nvPr/>
        </p:nvSpPr>
        <p:spPr>
          <a:xfrm>
            <a:off x="990600" y="6096000"/>
            <a:ext cx="739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CIT. 2</a:t>
            </a:r>
            <a:r>
              <a:rPr lang="en-US" baseline="30000" dirty="0" smtClean="0"/>
              <a:t>nd</a:t>
            </a:r>
            <a:r>
              <a:rPr lang="en-US" dirty="0" smtClean="0"/>
              <a:t>  Year                                                                                  CIT-244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licon-controll-rectifier-v-i-characteristic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4400" y="1066801"/>
            <a:ext cx="7391399" cy="4114800"/>
          </a:xfrm>
          <a:prstGeom prst="rect">
            <a:avLst/>
          </a:prstGeom>
          <a:ln w="88900" cap="sq" cmpd="thickThin">
            <a:solidFill>
              <a:srgbClr val="FF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TextBox 2"/>
          <p:cNvSpPr txBox="1"/>
          <p:nvPr/>
        </p:nvSpPr>
        <p:spPr>
          <a:xfrm>
            <a:off x="990600" y="5943600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CIT. 2</a:t>
            </a:r>
            <a:r>
              <a:rPr lang="en-US" baseline="30000" dirty="0" smtClean="0"/>
              <a:t>nd</a:t>
            </a:r>
            <a:r>
              <a:rPr lang="en-US" dirty="0" smtClean="0"/>
              <a:t>  Year                                                                                  CIT-244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" y="1676400"/>
            <a:ext cx="6858000" cy="2585323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SCRs are mainly used in devices where the control of high power, possibly at high </a:t>
            </a:r>
            <a:r>
              <a:rPr lang="en-US" dirty="0" smtClean="0"/>
              <a:t>voltage</a:t>
            </a:r>
            <a:r>
              <a:rPr lang="en-US" dirty="0" smtClean="0"/>
              <a:t>.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dirty="0" smtClean="0"/>
              <a:t>The ability to switch large currents on and off makes the </a:t>
            </a:r>
            <a:r>
              <a:rPr lang="en-US" dirty="0" smtClean="0"/>
              <a:t>SCR.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 Suitable </a:t>
            </a:r>
            <a:r>
              <a:rPr lang="en-US" dirty="0" smtClean="0"/>
              <a:t>for use in medium to </a:t>
            </a:r>
            <a:r>
              <a:rPr lang="en-US" dirty="0" smtClean="0"/>
              <a:t>high-voltage.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dirty="0" smtClean="0"/>
              <a:t>AC power control  </a:t>
            </a:r>
            <a:r>
              <a:rPr lang="en-US" dirty="0" smtClean="0"/>
              <a:t>  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 Lamp dimming</a:t>
            </a:r>
            <a:r>
              <a:rPr lang="en-US" dirty="0" smtClean="0"/>
              <a:t>.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 Regulators.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 Motor control.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676400" y="609600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 smtClean="0"/>
              <a:t>APPLICATION.</a:t>
            </a:r>
            <a:endParaRPr lang="en-US" sz="2800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1295400" y="5791200"/>
            <a:ext cx="70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CIT. 2</a:t>
            </a:r>
            <a:r>
              <a:rPr lang="en-US" baseline="30000" dirty="0" smtClean="0"/>
              <a:t>nd</a:t>
            </a:r>
            <a:r>
              <a:rPr lang="en-US" dirty="0" smtClean="0"/>
              <a:t>  Year                                                                                  CIT-244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56C316BA6F9449A2F726CCA3E44004" ma:contentTypeVersion="11" ma:contentTypeDescription="Create a new document." ma:contentTypeScope="" ma:versionID="67739e5a04e42ebfd497b1a68401a993">
  <xsd:schema xmlns:xsd="http://www.w3.org/2001/XMLSchema" xmlns:xs="http://www.w3.org/2001/XMLSchema" xmlns:p="http://schemas.microsoft.com/office/2006/metadata/properties" xmlns:ns2="fc7da1f0-6d58-44bd-9d93-a988c4590f59" xmlns:ns3="e5fce955-6e62-4519-9143-34cd4c0117c4" targetNamespace="http://schemas.microsoft.com/office/2006/metadata/properties" ma:root="true" ma:fieldsID="7323a62418a3d4eb240c2b8f87a128c7" ns2:_="" ns3:_="">
    <xsd:import namespace="fc7da1f0-6d58-44bd-9d93-a988c4590f59"/>
    <xsd:import namespace="e5fce955-6e62-4519-9143-34cd4c0117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7da1f0-6d58-44bd-9d93-a988c4590f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5ecaf37-f932-4642-a22a-9023f16d92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ce955-6e62-4519-9143-34cd4c0117c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f37def0-da8e-4621-a0b3-e3a231c71cbf}" ma:internalName="TaxCatchAll" ma:showField="CatchAllData" ma:web="e5fce955-6e62-4519-9143-34cd4c0117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7da1f0-6d58-44bd-9d93-a988c4590f59">
      <Terms xmlns="http://schemas.microsoft.com/office/infopath/2007/PartnerControls"/>
    </lcf76f155ced4ddcb4097134ff3c332f>
    <TaxCatchAll xmlns="e5fce955-6e62-4519-9143-34cd4c0117c4" xsi:nil="true"/>
  </documentManagement>
</p:properties>
</file>

<file path=customXml/itemProps1.xml><?xml version="1.0" encoding="utf-8"?>
<ds:datastoreItem xmlns:ds="http://schemas.openxmlformats.org/officeDocument/2006/customXml" ds:itemID="{379955D6-B612-4478-A1EC-00BC2DFBF95C}"/>
</file>

<file path=customXml/itemProps2.xml><?xml version="1.0" encoding="utf-8"?>
<ds:datastoreItem xmlns:ds="http://schemas.openxmlformats.org/officeDocument/2006/customXml" ds:itemID="{C7DABA13-F3A6-4B9F-9009-20B2644A945A}"/>
</file>

<file path=customXml/itemProps3.xml><?xml version="1.0" encoding="utf-8"?>
<ds:datastoreItem xmlns:ds="http://schemas.openxmlformats.org/officeDocument/2006/customXml" ds:itemID="{53C85931-5742-41D8-910D-83B14F13BEB4}"/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115</TotalTime>
  <Words>111</Words>
  <Application>Microsoft Office PowerPoint</Application>
  <PresentationFormat>On-screen Show (4:3)</PresentationFormat>
  <Paragraphs>38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Foundry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xp11</dc:creator>
  <cp:lastModifiedBy>xp11</cp:lastModifiedBy>
  <cp:revision>21</cp:revision>
  <dcterms:created xsi:type="dcterms:W3CDTF">2025-01-22T11:33:00Z</dcterms:created>
  <dcterms:modified xsi:type="dcterms:W3CDTF">2025-01-22T14:50:20Z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0x010100A956C316BA6F9449A2F726CCA3E44004</vt:lpwstr>
  </property>
</Properties>
</file>