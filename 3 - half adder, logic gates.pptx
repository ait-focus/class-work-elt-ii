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57" r:id="rId4"/>
    <p:sldId id="265" r:id="rId5"/>
    <p:sldId id="266" r:id="rId6"/>
    <p:sldId id="258" r:id="rId7"/>
    <p:sldId id="259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406B51-066F-421D-B496-86556AB620FE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66CED-49EE-4A98-A447-1C9F792273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ogle.com/search?q=XNOR+%28Exclusive+NOR%29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o" TargetMode="External"/><Relationship Id="rId3" Type="http://schemas.openxmlformats.org/officeDocument/2006/relationships/hyperlink" Target="https://www.google.com/search?q=OR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A" TargetMode="External"/><Relationship Id="rId7" Type="http://schemas.openxmlformats.org/officeDocument/2006/relationships/hyperlink" Target="https://www.google.com/search?q=XOR+%28Exclusive+OR%29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g" TargetMode="External"/><Relationship Id="rId2" Type="http://schemas.openxmlformats.org/officeDocument/2006/relationships/hyperlink" Target="https://www.google.com/search?q=AND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A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google.com/search?q=NOR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Y" TargetMode="External"/><Relationship Id="rId5" Type="http://schemas.openxmlformats.org/officeDocument/2006/relationships/hyperlink" Target="https://www.google.com/search?q=NAND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Q" TargetMode="External"/><Relationship Id="rId4" Type="http://schemas.openxmlformats.org/officeDocument/2006/relationships/hyperlink" Target="https://www.google.com/search?q=NOT&amp;sca_esv=ef6e102d6c74609c&amp;ei=MBInaaChOIalkdUPgbTBwQo&amp;oq=logic+gatesand&amp;gs_lp=Egxnd3Mtd2l6LXNlcnAiDmxvZ2ljIGdhdGVzYW5kKgIIADIHEAAYgAQYDTIHEAAYgAQYDTIHEAAYgAQYDTIHEAAYgAQYDTIHEAAYgAQYDTIHEAAYgAQYDTIHEAAYgAQYDTIHEAAYgAQYDTIHEAAYgAQYDTIHEAAYgAQYDUjCOFCxD1i2GHABeAGQAQCYAegBoAGMBaoBAzItM7gBAcgBAPgBAZgCBKAC3gXCAgoQABiwAxjWBBhHwgINEAAYgAQYsAMYQxiKBcICDRAAGIAEGLEDGEMYigXCAgoQABiABBhDGIoFwgIJEAAYgAQYChgLwgIKEAAYgAQYsQMYDZgDAIgGAZAGCpIHBTEuMC4zoAfSE7IHAzItM7gHzAXCBwMzLTTIB0A&amp;sclient=gws-wiz-serp&amp;ved=2ahUKEwjYt_zvhpCRAxXrUaQEHUktJ94QgK4QegYIAQgAEBI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This may contain: an arabic calligraphy is shown on a metal background with the words bismillalaria mana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68580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1905000"/>
            <a:ext cx="6553200" cy="19389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u="sng" dirty="0" smtClean="0"/>
              <a:t>LOGIC GATES</a:t>
            </a:r>
          </a:p>
          <a:p>
            <a:pPr algn="ctr"/>
            <a:r>
              <a:rPr lang="en-US" sz="4000" b="1" u="sng" dirty="0" smtClean="0"/>
              <a:t> AND </a:t>
            </a:r>
          </a:p>
          <a:p>
            <a:pPr algn="ctr"/>
            <a:r>
              <a:rPr lang="en-US" sz="4000" b="1" u="sng" dirty="0" smtClean="0"/>
              <a:t>TRUTH TABLE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33400" y="60198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ypes of Digital Logic Gates - Boolean Logic Truth Tables"/>
          <p:cNvPicPr>
            <a:picLocks noChangeAspect="1" noChangeArrowheads="1"/>
          </p:cNvPicPr>
          <p:nvPr/>
        </p:nvPicPr>
        <p:blipFill>
          <a:blip r:embed="rId2" cstate="print"/>
          <a:srcRect r="444" b="3175"/>
          <a:stretch>
            <a:fillRect/>
          </a:stretch>
        </p:blipFill>
        <p:spPr bwMode="auto">
          <a:xfrm>
            <a:off x="838200" y="1143000"/>
            <a:ext cx="7467600" cy="4343400"/>
          </a:xfrm>
          <a:prstGeom prst="rect">
            <a:avLst/>
          </a:prstGeom>
          <a:ln w="38100" cap="sq">
            <a:solidFill>
              <a:srgbClr val="00B05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609600" y="6096000"/>
            <a:ext cx="81534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logic gates symbols, symbols of logic gates, Logic Gates, AND Gate, OR GATE,NOR Gate, NOT, GATE, Proteus implementation of gates."/>
          <p:cNvPicPr>
            <a:picLocks noChangeAspect="1" noChangeArrowheads="1"/>
          </p:cNvPicPr>
          <p:nvPr/>
        </p:nvPicPr>
        <p:blipFill>
          <a:blip r:embed="rId2" cstate="print"/>
          <a:srcRect t="13029" r="27687" b="47284"/>
          <a:stretch>
            <a:fillRect/>
          </a:stretch>
        </p:blipFill>
        <p:spPr bwMode="auto">
          <a:xfrm>
            <a:off x="838200" y="457200"/>
            <a:ext cx="7620000" cy="4953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685800" y="6248400"/>
            <a:ext cx="77724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ogic gates symbols, symbols of logic gates, Logic Gates, AND Gate, OR GATE,NOR Gate, NOT, GATE, Proteus implementation of gates."/>
          <p:cNvPicPr>
            <a:picLocks noChangeAspect="1" noChangeArrowheads="1"/>
          </p:cNvPicPr>
          <p:nvPr/>
        </p:nvPicPr>
        <p:blipFill>
          <a:blip r:embed="rId2" cstate="print"/>
          <a:srcRect t="49609" r="1654" b="7143"/>
          <a:stretch>
            <a:fillRect/>
          </a:stretch>
        </p:blipFill>
        <p:spPr bwMode="auto">
          <a:xfrm>
            <a:off x="762000" y="762000"/>
            <a:ext cx="7772400" cy="4876800"/>
          </a:xfrm>
          <a:prstGeom prst="rect">
            <a:avLst/>
          </a:prstGeom>
          <a:ln w="38100" cap="sq">
            <a:solidFill>
              <a:srgbClr val="FFFF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685800" y="6324600"/>
            <a:ext cx="7924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Different Types of Logic Gates with Truth Table, Expression - ETechnoG"/>
          <p:cNvPicPr>
            <a:picLocks noChangeAspect="1" noChangeArrowheads="1"/>
          </p:cNvPicPr>
          <p:nvPr/>
        </p:nvPicPr>
        <p:blipFill>
          <a:blip r:embed="rId2" cstate="print"/>
          <a:srcRect t="9859" r="-2062"/>
          <a:stretch>
            <a:fillRect/>
          </a:stretch>
        </p:blipFill>
        <p:spPr bwMode="auto">
          <a:xfrm>
            <a:off x="838200" y="1066800"/>
            <a:ext cx="7543800" cy="4191000"/>
          </a:xfrm>
          <a:prstGeom prst="rect">
            <a:avLst/>
          </a:prstGeom>
          <a:ln w="38100" cap="sq">
            <a:solidFill>
              <a:srgbClr val="FF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33400" y="6248400"/>
            <a:ext cx="80010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 descr="Logic Gates and Truth Tables - YouTub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81000" y="6172200"/>
            <a:ext cx="8229600" cy="381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457200" y="614271"/>
            <a:ext cx="8229600" cy="541069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sng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Logic gates</a:t>
            </a:r>
            <a:endParaRPr kumimoji="0" lang="en-US" sz="28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2"/>
              </a:rPr>
              <a:t>AND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(True) only if all inputs are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3"/>
              </a:rPr>
              <a:t>OR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(True) if at least one of the inputs is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4"/>
              </a:rPr>
              <a:t>NOT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the logical opposite of the single input. If the input is 1, the output is 0. If the input is 0, the output is 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5"/>
              </a:rPr>
              <a:t>NAND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0 only if all inputs are 1. It is the inverse of the AND gate.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6"/>
              </a:rPr>
              <a:t>NOR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only if all inputs are 0. It is the inverse of the OR gate.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7"/>
              </a:rPr>
              <a:t>XOR (Exclusive OR)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if the inputs are different, and 0 if they are the same.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0A0A0A"/>
              </a:solidFill>
              <a:effectLst/>
              <a:latin typeface="Google Sans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  <a:hlinkClick r:id="rId8"/>
              </a:rPr>
              <a:t>XNOR (Exclusive NOR)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: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0A0A0A"/>
                </a:solidFill>
                <a:effectLst/>
                <a:latin typeface="Google Sans"/>
                <a:cs typeface="Arial" pitchFamily="34" charset="0"/>
              </a:rPr>
              <a:t> The output is 1 if the inputs are the same, and 0 if they are different.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762000"/>
            <a:ext cx="75438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/>
              <a:t>  </a:t>
            </a:r>
            <a:r>
              <a:rPr lang="en-US" sz="2800" b="1" u="sng" dirty="0" smtClean="0"/>
              <a:t>Half </a:t>
            </a:r>
            <a:r>
              <a:rPr lang="en-US" sz="2800" b="1" u="sng" dirty="0" smtClean="0"/>
              <a:t>A</a:t>
            </a:r>
            <a:r>
              <a:rPr lang="en-US" sz="2800" b="1" u="sng" dirty="0" smtClean="0"/>
              <a:t>dder</a:t>
            </a:r>
          </a:p>
          <a:p>
            <a:r>
              <a:rPr lang="en-US" dirty="0" smtClean="0"/>
              <a:t> </a:t>
            </a:r>
            <a:r>
              <a:rPr lang="en-US" dirty="0" smtClean="0"/>
              <a:t>half adder is a digital logic circuit that adds two single-bit binary numbers, producing a "Sum" bit and a "Carry" bit. It consists of an XOR gate for the sum and an AND gate for the carry. This circuit is limited to adding only two bits and cannot handle a carry input from a previous stage. </a:t>
            </a:r>
            <a:endParaRPr lang="en-US" dirty="0"/>
          </a:p>
        </p:txBody>
      </p:sp>
      <p:sp>
        <p:nvSpPr>
          <p:cNvPr id="19458" name="AutoShape 2" descr="Half Adder and Full Adder Explained - ALL ABOUT ELECTRONI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460" name="Picture 4" descr="Half Adder Circuit: Theory, Truth Table &amp; Constructio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743200"/>
            <a:ext cx="7162800" cy="3124200"/>
          </a:xfrm>
          <a:prstGeom prst="rect">
            <a:avLst/>
          </a:prstGeom>
          <a:ln w="38100" cap="sq">
            <a:solidFill>
              <a:schemeClr val="tx2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990600" y="63246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Half Adder Input Outp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457200"/>
            <a:ext cx="4762500" cy="1981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2971799"/>
          <a:ext cx="7239000" cy="2667000"/>
        </p:xfrm>
        <a:graphic>
          <a:graphicData uri="http://schemas.openxmlformats.org/drawingml/2006/table">
            <a:tbl>
              <a:tblPr/>
              <a:tblGrid>
                <a:gridCol w="1809750"/>
                <a:gridCol w="1809750"/>
                <a:gridCol w="1809750"/>
                <a:gridCol w="1809750"/>
              </a:tblGrid>
              <a:tr h="515435">
                <a:tc>
                  <a:txBody>
                    <a:bodyPr/>
                    <a:lstStyle/>
                    <a:p>
                      <a:r>
                        <a:rPr lang="en-US" sz="1600" b="1" dirty="0"/>
                        <a:t>A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B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Sum (S)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Carry (C)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5">
                <a:tc>
                  <a:txBody>
                    <a:bodyPr/>
                    <a:lstStyle/>
                    <a:p>
                      <a:r>
                        <a:rPr lang="en-US" sz="1600" b="0" dirty="0"/>
                        <a:t>0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0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0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5">
                <a:tc>
                  <a:txBody>
                    <a:bodyPr/>
                    <a:lstStyle/>
                    <a:p>
                      <a:r>
                        <a:rPr lang="en-US" sz="1600" b="0"/>
                        <a:t>0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1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1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435">
                <a:tc>
                  <a:txBody>
                    <a:bodyPr/>
                    <a:lstStyle/>
                    <a:p>
                      <a:r>
                        <a:rPr lang="en-US" sz="1600" b="0"/>
                        <a:t>1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1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0</a:t>
                      </a:r>
                      <a:endParaRPr lang="en-US" sz="1600" dirty="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5260">
                <a:tc>
                  <a:txBody>
                    <a:bodyPr/>
                    <a:lstStyle/>
                    <a:p>
                      <a:r>
                        <a:rPr lang="en-US" sz="1600" b="0"/>
                        <a:t>1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1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/>
                        <a:t>0</a:t>
                      </a:r>
                      <a:endParaRPr lang="en-US" sz="1600"/>
                    </a:p>
                  </a:txBody>
                  <a:tcPr marL="69339" marR="69339" marT="17335" marB="1733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3207" marR="83207" marT="41603" marB="41603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38200" y="6096000"/>
            <a:ext cx="75438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CIT,2- Year                                                                                                  ELT-II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56C316BA6F9449A2F726CCA3E44004" ma:contentTypeVersion="11" ma:contentTypeDescription="Create a new document." ma:contentTypeScope="" ma:versionID="67739e5a04e42ebfd497b1a68401a993">
  <xsd:schema xmlns:xsd="http://www.w3.org/2001/XMLSchema" xmlns:xs="http://www.w3.org/2001/XMLSchema" xmlns:p="http://schemas.microsoft.com/office/2006/metadata/properties" xmlns:ns2="fc7da1f0-6d58-44bd-9d93-a988c4590f59" xmlns:ns3="e5fce955-6e62-4519-9143-34cd4c0117c4" targetNamespace="http://schemas.microsoft.com/office/2006/metadata/properties" ma:root="true" ma:fieldsID="7323a62418a3d4eb240c2b8f87a128c7" ns2:_="" ns3:_="">
    <xsd:import namespace="fc7da1f0-6d58-44bd-9d93-a988c4590f59"/>
    <xsd:import namespace="e5fce955-6e62-4519-9143-34cd4c0117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7da1f0-6d58-44bd-9d93-a988c4590f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5ecaf37-f932-4642-a22a-9023f16d92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fce955-6e62-4519-9143-34cd4c0117c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cf37def0-da8e-4621-a0b3-e3a231c71cbf}" ma:internalName="TaxCatchAll" ma:showField="CatchAllData" ma:web="e5fce955-6e62-4519-9143-34cd4c0117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c7da1f0-6d58-44bd-9d93-a988c4590f59">
      <Terms xmlns="http://schemas.microsoft.com/office/infopath/2007/PartnerControls"/>
    </lcf76f155ced4ddcb4097134ff3c332f>
    <TaxCatchAll xmlns="e5fce955-6e62-4519-9143-34cd4c0117c4" xsi:nil="true"/>
  </documentManagement>
</p:properties>
</file>

<file path=customXml/itemProps1.xml><?xml version="1.0" encoding="utf-8"?>
<ds:datastoreItem xmlns:ds="http://schemas.openxmlformats.org/officeDocument/2006/customXml" ds:itemID="{D335BD88-63DD-436C-82F7-6FE63755A705}"/>
</file>

<file path=customXml/itemProps2.xml><?xml version="1.0" encoding="utf-8"?>
<ds:datastoreItem xmlns:ds="http://schemas.openxmlformats.org/officeDocument/2006/customXml" ds:itemID="{839DD277-AC8B-4001-8599-18B14AB0D0BC}"/>
</file>

<file path=customXml/itemProps3.xml><?xml version="1.0" encoding="utf-8"?>
<ds:datastoreItem xmlns:ds="http://schemas.openxmlformats.org/officeDocument/2006/customXml" ds:itemID="{DBC19319-48ED-45AE-812F-3DEB9E811FC3}"/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67</Words>
  <Application>Microsoft Office PowerPoint</Application>
  <PresentationFormat>On-screen Show (4:3)</PresentationFormat>
  <Paragraphs>46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xp11</dc:creator>
  <cp:lastModifiedBy>xp11</cp:lastModifiedBy>
  <cp:revision>9</cp:revision>
  <dcterms:created xsi:type="dcterms:W3CDTF">2025-11-25T10:20:57Z</dcterms:created>
  <dcterms:modified xsi:type="dcterms:W3CDTF">2025-11-26T15:21:21Z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0x010100A956C316BA6F9449A2F726CCA3E44004</vt:lpwstr>
  </property>
</Properties>
</file>