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72" r:id="rId4"/>
    <p:sldId id="277" r:id="rId5"/>
    <p:sldId id="278" r:id="rId6"/>
    <p:sldId id="279" r:id="rId7"/>
    <p:sldId id="273" r:id="rId8"/>
    <p:sldId id="265" r:id="rId9"/>
    <p:sldId id="276" r:id="rId10"/>
    <p:sldId id="274" r:id="rId11"/>
    <p:sldId id="271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06B51-066F-421D-B496-86556AB620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1c3cc78ff16bfd4a&amp;q=maxterms&amp;sa=X&amp;ved=2ahUKEwic787k6pyRAxWcVUEAHWx_ItAQxccNegQIIRAC&amp;mstk=AUtExfCl6K6M5S4nHX_WjVtIAQTNFk39pZo2Q9-FhIGbZkZ1K3TBnKPzqfxDqJoHcywygi0r3aiyr4o7ftu3JLO8LBPwf0TFQAY3Tv2-wtG_2_ItsVdziXmclhLHc4r8fft8L9c&amp;csui=3" TargetMode="External"/><Relationship Id="rId2" Type="http://schemas.openxmlformats.org/officeDocument/2006/relationships/hyperlink" Target="https://www.google.com/search?sca_esv=1c3cc78ff16bfd4a&amp;q=minterms&amp;sa=X&amp;ved=2ahUKEwic787k6pyRAxWcVUEAHWx_ItAQxccNegQIIRAB&amp;mstk=AUtExfCl6K6M5S4nHX_WjVtIAQTNFk39pZo2Q9-FhIGbZkZ1K3TBnKPzqfxDqJoHcywygi0r3aiyr4o7ftu3JLO8LBPwf0TFQAY3Tv2-wtG_2_ItsVdziXmclhLHc4r8fft8L9c&amp;csui=3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oogle.com/search?sca_esv=1c3cc78ff16bfd4a&amp;q=active+high+logic&amp;sa=X&amp;ved=2ahUKEwic787k6pyRAxWcVUEAHWx_ItAQxccNegQIIRAD&amp;mstk=AUtExfCl6K6M5S4nHX_WjVtIAQTNFk39pZo2Q9-FhIGbZkZ1K3TBnKPzqfxDqJoHcywygi0r3aiyr4o7ftu3JLO8LBPwf0TFQAY3Tv2-wtG_2_ItsVdziXmclhLHc4r8fft8L9c&amp;csui=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 descr="Meaning of bismillah al rahman al rahi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2" name="Picture 4" descr="6+ Hundred Bismillah Rahman Rahim Royalty-Free Images, Stock Photos &amp;  Pictures | Shuttersto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219200"/>
            <a:ext cx="6477000" cy="3810000"/>
          </a:xfrm>
          <a:prstGeom prst="rect">
            <a:avLst/>
          </a:prstGeom>
          <a:solidFill>
            <a:schemeClr val="tx2">
              <a:lumMod val="75000"/>
            </a:schemeClr>
          </a:solidFill>
          <a:ln w="88900" cap="sq">
            <a:solidFill>
              <a:schemeClr val="bg2">
                <a:lumMod val="2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6019800"/>
            <a:ext cx="800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990600"/>
            <a:ext cx="7239000" cy="175432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 smtClean="0"/>
              <a:t>K-MAP</a:t>
            </a:r>
          </a:p>
          <a:p>
            <a:pPr algn="ctr"/>
            <a:r>
              <a:rPr lang="en-US" sz="5400" b="1" u="sng" dirty="0" smtClean="0"/>
              <a:t>KARNAUGH  MAP</a:t>
            </a:r>
            <a:endParaRPr lang="en-US" sz="54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3352800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smtClean="0">
                <a:solidFill>
                  <a:srgbClr val="C00000"/>
                </a:solidFill>
              </a:rPr>
              <a:t>Developed by MAURICE  KARNAUGH OF BELL LAB in 1953.</a:t>
            </a:r>
            <a:endParaRPr lang="en-US" sz="3200" b="1" u="sng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447800"/>
            <a:ext cx="7543800" cy="26776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  </a:t>
            </a:r>
            <a:r>
              <a:rPr lang="en-US" sz="2400" b="1" u="sng" dirty="0" err="1" smtClean="0"/>
              <a:t>Karnaugh</a:t>
            </a:r>
            <a:r>
              <a:rPr lang="en-US" sz="2400" b="1" u="sng" dirty="0" smtClean="0"/>
              <a:t> map (K-map)</a:t>
            </a:r>
          </a:p>
          <a:p>
            <a:pPr algn="ctr"/>
            <a:r>
              <a:rPr lang="en-US" sz="2400" dirty="0" smtClean="0"/>
              <a:t> </a:t>
            </a:r>
            <a:r>
              <a:rPr lang="en-US" sz="3600" b="1" u="sng" dirty="0" err="1" smtClean="0">
                <a:solidFill>
                  <a:srgbClr val="FF0000"/>
                </a:solidFill>
              </a:rPr>
              <a:t>Karnaugh</a:t>
            </a:r>
            <a:r>
              <a:rPr lang="en-US" sz="3600" b="1" u="sng" dirty="0" smtClean="0">
                <a:solidFill>
                  <a:srgbClr val="FF0000"/>
                </a:solidFill>
              </a:rPr>
              <a:t> map (K-map) is used to  simplify the Boolean expressions in pictorial </a:t>
            </a:r>
            <a:r>
              <a:rPr lang="en-US" sz="3600" b="1" u="sng" dirty="0" err="1" smtClean="0">
                <a:solidFill>
                  <a:srgbClr val="FF0000"/>
                </a:solidFill>
              </a:rPr>
              <a:t>formet</a:t>
            </a:r>
            <a:r>
              <a:rPr lang="en-US" sz="3600" b="1" u="sng" dirty="0" smtClean="0">
                <a:solidFill>
                  <a:srgbClr val="FF0000"/>
                </a:solidFill>
              </a:rPr>
              <a:t>  without using Boolean laws or Theorems.</a:t>
            </a:r>
            <a:endParaRPr lang="en-US" sz="3600" b="1" u="sng" dirty="0">
              <a:solidFill>
                <a:srgbClr val="FF0000"/>
              </a:solidFill>
            </a:endParaRPr>
          </a:p>
        </p:txBody>
      </p:sp>
      <p:sp>
        <p:nvSpPr>
          <p:cNvPr id="19458" name="AutoShape 2" descr="Half Adder and Full Adder Explained - ALL ABOUT ELECTRON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43000" y="6248400"/>
            <a:ext cx="7543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0"/>
            <a:ext cx="9144000" cy="147732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SOP (Sum of Products) and POS (Product of Sums) are two standard ways to represent Boolean functions. SOP forms a function as a sum of product terms, typically using </a:t>
            </a:r>
            <a:r>
              <a:rPr lang="en-US" dirty="0" err="1" smtClean="0">
                <a:solidFill>
                  <a:schemeClr val="bg1"/>
                </a:solidFill>
                <a:hlinkClick r:id="rId2"/>
              </a:rPr>
              <a:t>minterms</a:t>
            </a:r>
            <a:r>
              <a:rPr lang="en-US" dirty="0" smtClean="0">
                <a:solidFill>
                  <a:schemeClr val="bg1"/>
                </a:solidFill>
              </a:rPr>
              <a:t> to represent outputs of 1, while </a:t>
            </a:r>
            <a:r>
              <a:rPr lang="en-US" u="sng" dirty="0" smtClean="0">
                <a:solidFill>
                  <a:schemeClr val="bg1"/>
                </a:solidFill>
              </a:rPr>
              <a:t>POS forms </a:t>
            </a:r>
            <a:r>
              <a:rPr lang="en-US" dirty="0" smtClean="0">
                <a:solidFill>
                  <a:schemeClr val="bg1"/>
                </a:solidFill>
              </a:rPr>
              <a:t>a function as a product of sum terms, typically using </a:t>
            </a:r>
            <a:r>
              <a:rPr lang="en-US" dirty="0" err="1" smtClean="0">
                <a:solidFill>
                  <a:schemeClr val="bg1"/>
                </a:solidFill>
                <a:hlinkClick r:id="rId3"/>
              </a:rPr>
              <a:t>maxterms</a:t>
            </a:r>
            <a:r>
              <a:rPr lang="en-US" dirty="0" smtClean="0">
                <a:solidFill>
                  <a:schemeClr val="bg1"/>
                </a:solidFill>
              </a:rPr>
              <a:t> to represent </a:t>
            </a:r>
            <a:r>
              <a:rPr lang="en-US" u="sng" dirty="0" smtClean="0">
                <a:solidFill>
                  <a:schemeClr val="bg1"/>
                </a:solidFill>
              </a:rPr>
              <a:t>outputs of 0</a:t>
            </a:r>
            <a:r>
              <a:rPr lang="en-US" dirty="0" smtClean="0">
                <a:solidFill>
                  <a:schemeClr val="bg1"/>
                </a:solidFill>
              </a:rPr>
              <a:t>. SOP is used for </a:t>
            </a:r>
            <a:r>
              <a:rPr lang="en-US" dirty="0" smtClean="0">
                <a:solidFill>
                  <a:schemeClr val="bg1"/>
                </a:solidFill>
                <a:hlinkClick r:id="rId4"/>
              </a:rPr>
              <a:t>active high logic</a:t>
            </a:r>
            <a:r>
              <a:rPr lang="en-US" dirty="0" smtClean="0">
                <a:solidFill>
                  <a:schemeClr val="bg1"/>
                </a:solidFill>
              </a:rPr>
              <a:t> (output is 1), and POS is used for active low logic (output is 0). 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2971800"/>
          <a:ext cx="8382000" cy="32004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794000"/>
                <a:gridCol w="2794000"/>
                <a:gridCol w="2794000"/>
              </a:tblGrid>
              <a:tr h="41936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300" dirty="0"/>
                        <a:t>Characterization</a:t>
                      </a:r>
                      <a:endParaRPr lang="en-US" sz="1300" b="1" dirty="0"/>
                    </a:p>
                  </a:txBody>
                  <a:tcPr marL="34834" marR="34834" marT="87086" marB="87086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300" dirty="0"/>
                        <a:t>SOP</a:t>
                      </a:r>
                      <a:endParaRPr lang="en-US" sz="1300" b="1" dirty="0"/>
                    </a:p>
                  </a:txBody>
                  <a:tcPr marL="87086" marR="87086" marT="87086" marB="87086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300"/>
                        <a:t>POS</a:t>
                      </a:r>
                      <a:endParaRPr lang="en-US" sz="1300" b="1"/>
                    </a:p>
                  </a:txBody>
                  <a:tcPr marL="87086" marR="87086" marT="87086" marB="87086" anchor="ctr"/>
                </a:tc>
              </a:tr>
              <a:tr h="46350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Definition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dirty="0"/>
                        <a:t>SOP is sum of the </a:t>
                      </a:r>
                      <a:r>
                        <a:rPr lang="en-US" sz="1100" dirty="0" err="1"/>
                        <a:t>minterms</a:t>
                      </a:r>
                      <a:r>
                        <a:rPr lang="en-US" sz="1100" dirty="0"/>
                        <a:t>.</a:t>
                      </a:r>
                      <a:endParaRPr lang="en-US" sz="1100" b="0" dirty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POS is the product of maxterms.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</a:tr>
              <a:tr h="46350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Stands for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SOP stands for Sum of Product.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POS stands for Product of Sum.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</a:tr>
              <a:tr h="46350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Representation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dirty="0"/>
                        <a:t>It represents </a:t>
                      </a:r>
                      <a:r>
                        <a:rPr lang="en-US" sz="1100" dirty="0" err="1"/>
                        <a:t>minterms</a:t>
                      </a:r>
                      <a:r>
                        <a:rPr lang="en-US" sz="1100" dirty="0"/>
                        <a:t>.</a:t>
                      </a:r>
                      <a:endParaRPr lang="en-US" sz="1100" b="0" dirty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It represents maxterms.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</a:tr>
              <a:tr h="46350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Logic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It works on active high logic.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dirty="0"/>
                        <a:t>It works on active low logic.</a:t>
                      </a:r>
                      <a:endParaRPr lang="en-US" sz="1100" b="0" dirty="0"/>
                    </a:p>
                  </a:txBody>
                  <a:tcPr marL="87086" marR="87086" marT="121920" marB="121920" anchor="ctr"/>
                </a:tc>
              </a:tr>
              <a:tr h="46350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Denotation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dirty="0"/>
                        <a:t>It is denoted by Σ.</a:t>
                      </a:r>
                      <a:endParaRPr lang="en-US" sz="1100" b="0" dirty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It is denoted by П.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</a:tr>
              <a:tr h="46350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Output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/>
                        <a:t>The output of SOP is 1.</a:t>
                      </a:r>
                      <a:endParaRPr lang="en-US" sz="1100" b="0"/>
                    </a:p>
                  </a:txBody>
                  <a:tcPr marL="87086" marR="87086" marT="121920" marB="12192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100" dirty="0"/>
                        <a:t>The output of POS is 0.</a:t>
                      </a:r>
                      <a:endParaRPr lang="en-US" sz="1100" b="0" dirty="0"/>
                    </a:p>
                  </a:txBody>
                  <a:tcPr marL="87086" marR="87086" marT="121920" marB="121920"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90600" y="381000"/>
            <a:ext cx="7239000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en-US" dirty="0" smtClean="0"/>
              <a:t>K-map can take two forms:</a:t>
            </a:r>
          </a:p>
          <a:p>
            <a:pPr algn="ctr" fontAlgn="base"/>
            <a:r>
              <a:rPr lang="en-US" dirty="0" smtClean="0"/>
              <a:t>Sum of product (SOP)</a:t>
            </a:r>
          </a:p>
          <a:p>
            <a:pPr algn="ctr" fontAlgn="base"/>
            <a:r>
              <a:rPr lang="en-US" dirty="0" smtClean="0"/>
              <a:t>Product of Sum (POS)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6400800"/>
            <a:ext cx="73914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251390"/>
            <a:ext cx="9144000" cy="143116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dirty="0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K-Map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K-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Map method is most suitable for minimizing Boolean functions of 2 variables to 5 variables.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-apple-system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2 Variable K-Map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-apple-system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The number of cells in 2 variable K-map is four (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000" dirty="0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)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since the number of variables is two. The following figure shows 2 variable K-Map.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7" name="Picture 3" descr="https://www.poriyaan.in/media/imgPori/images51/dS1MOy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752600"/>
            <a:ext cx="4114800" cy="1524000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 rot="10800000" flipV="1">
            <a:off x="0" y="3317237"/>
            <a:ext cx="9144000" cy="112338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3 Variable K-Map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-apple-system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The number of cells in 3 variable K-map is eight (23), since the number of variables is three. The following figure shows 3 variable K-Map.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  <a:cs typeface="Arial" pitchFamily="34" charset="0"/>
              </a:rPr>
              <a:t>  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• There is only one possibility of grouping 8 adjacent </a:t>
            </a:r>
            <a:endParaRPr kumimoji="0" lang="en-US" sz="84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-apple-system"/>
              <a:cs typeface="Arial" pitchFamily="34" charset="0"/>
            </a:endParaRPr>
          </a:p>
        </p:txBody>
      </p:sp>
      <p:pic>
        <p:nvPicPr>
          <p:cNvPr id="1029" name="Picture 5" descr="https://www.poriyaan.in/media/imgPori/images51/OWMjA4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4495801"/>
            <a:ext cx="4419600" cy="175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429851"/>
            <a:ext cx="9144000" cy="112338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4 Variable K-Map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-apple-system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The number of cells in 4 variable K-map is sixteen (2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), since the number of variables is four. The following figure shows 4 variable K-Map.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-apple-system"/>
                <a:cs typeface="Arial" pitchFamily="34" charset="0"/>
              </a:rPr>
              <a:t>  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• There is only one possibility of g</a:t>
            </a:r>
            <a:endParaRPr kumimoji="0" lang="en-US" sz="14900" b="0" i="0" u="none" strike="noStrike" cap="none" normalizeH="0" baseline="0" dirty="0" smtClean="0">
              <a:ln>
                <a:noFill/>
              </a:ln>
              <a:solidFill>
                <a:srgbClr val="212529"/>
              </a:solidFill>
              <a:effectLst/>
              <a:latin typeface="-apple-system"/>
              <a:cs typeface="Arial" pitchFamily="34" charset="0"/>
            </a:endParaRPr>
          </a:p>
        </p:txBody>
      </p:sp>
      <p:pic>
        <p:nvPicPr>
          <p:cNvPr id="23554" name="Picture 2" descr="https://www.poriyaan.in/media/imgPori/images51/ZIGKdA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828800"/>
            <a:ext cx="6172200" cy="3362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6096000"/>
            <a:ext cx="7543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10242" name="AutoShape 2" descr="K-map for 2 variab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685801"/>
            <a:ext cx="6858000" cy="45720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FFC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248400"/>
            <a:ext cx="77724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8194" name="AutoShape 2" descr="frame_1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C:\Users\xp11\Desktop\k3sop-300x295.png"/>
          <p:cNvPicPr>
            <a:picLocks noChangeAspect="1" noChangeArrowheads="1"/>
          </p:cNvPicPr>
          <p:nvPr/>
        </p:nvPicPr>
        <p:blipFill>
          <a:blip r:embed="rId2" cstate="print"/>
          <a:srcRect r="3223" b="44068"/>
          <a:stretch>
            <a:fillRect/>
          </a:stretch>
        </p:blipFill>
        <p:spPr bwMode="auto">
          <a:xfrm>
            <a:off x="1066800" y="838200"/>
            <a:ext cx="6934200" cy="36576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7030A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324600"/>
            <a:ext cx="7924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pic>
        <p:nvPicPr>
          <p:cNvPr id="7169" name="Picture 1" descr="C:\Users\xp11\Desktop\k4sop-287x300.png"/>
          <p:cNvPicPr>
            <a:picLocks noChangeAspect="1" noChangeArrowheads="1"/>
          </p:cNvPicPr>
          <p:nvPr/>
        </p:nvPicPr>
        <p:blipFill>
          <a:blip r:embed="rId2" cstate="print"/>
          <a:srcRect r="11765" b="31667"/>
          <a:stretch>
            <a:fillRect/>
          </a:stretch>
        </p:blipFill>
        <p:spPr bwMode="auto">
          <a:xfrm>
            <a:off x="1295400" y="838200"/>
            <a:ext cx="5715000" cy="40386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B05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90600" y="6096000"/>
            <a:ext cx="73914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203323"/>
            <a:ext cx="9144000" cy="107721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Example Question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Simplify the Boolean function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F(A,B)=∑m(0,1,2).using a 2-variable K-map.</a:t>
            </a:r>
          </a:p>
        </p:txBody>
      </p:sp>
      <p:sp>
        <p:nvSpPr>
          <p:cNvPr id="3076" name="AutoShape 4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700246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7" name="AutoShape 5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5080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8" name="AutoShape 6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370681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9" name="AutoShape 7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23336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0" name="AutoShape 8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6858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1" name="AutoShape 9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4127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" name="AutoShape 10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17859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3" name="AutoShape 11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288448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4" name="AutoShape 12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453231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5" name="AutoShape 13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59055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6" name="AutoShape 14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75533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7" name="Rectangle 15"/>
          <p:cNvSpPr>
            <a:spLocks noChangeArrowheads="1"/>
          </p:cNvSpPr>
          <p:nvPr/>
        </p:nvSpPr>
        <p:spPr bwMode="auto">
          <a:xfrm>
            <a:off x="0" y="1990580"/>
            <a:ext cx="91440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Steps to Solution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Arial" charset="0"/>
              <a:cs typeface="Arial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Draw the K-Map: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Plot the '1's:</a:t>
            </a:r>
          </a:p>
          <a:p>
            <a:pPr marL="342900" indent="-342900">
              <a:buFont typeface="+mj-lt"/>
              <a:buAutoNum type="arabicPeriod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b="1" dirty="0" smtClean="0"/>
              <a:t>Group Adjacent '1's:</a:t>
            </a:r>
            <a:r>
              <a:rPr lang="en-US" dirty="0" smtClean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Write the Simplified Expression</a:t>
            </a:r>
            <a:r>
              <a:rPr lang="en-US" b="1" dirty="0" smtClean="0"/>
              <a:t>:</a:t>
            </a:r>
            <a:r>
              <a:rPr lang="en-US" b="1" dirty="0" smtClean="0">
                <a:solidFill>
                  <a:srgbClr val="0A0A0A"/>
                </a:solidFill>
                <a:latin typeface="Google Sans"/>
                <a:cs typeface="Arial" pitchFamily="34" charset="0"/>
              </a:rPr>
              <a:t> </a:t>
            </a:r>
            <a:endParaRPr lang="en-US" b="1" dirty="0" smtClean="0">
              <a:solidFill>
                <a:srgbClr val="0A0A0A"/>
              </a:solidFill>
              <a:latin typeface="Google Sans"/>
              <a:cs typeface="Arial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>
                <a:solidFill>
                  <a:srgbClr val="0A0A0A"/>
                </a:solidFill>
                <a:latin typeface="Google Sans"/>
                <a:cs typeface="Arial" pitchFamily="34" charset="0"/>
              </a:rPr>
              <a:t>Combine </a:t>
            </a:r>
            <a:r>
              <a:rPr lang="en-US" b="1" dirty="0" smtClean="0">
                <a:solidFill>
                  <a:srgbClr val="0A0A0A"/>
                </a:solidFill>
                <a:latin typeface="Google Sans"/>
                <a:cs typeface="Arial" pitchFamily="34" charset="0"/>
              </a:rPr>
              <a:t>Terms</a:t>
            </a:r>
            <a:r>
              <a:rPr lang="en-US" b="1" dirty="0" smtClean="0">
                <a:solidFill>
                  <a:srgbClr val="0A0A0A"/>
                </a:solidFill>
                <a:latin typeface="Google Sans"/>
                <a:cs typeface="Arial" pitchFamily="34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088" name="AutoShape 16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54927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 flipH="1">
            <a:off x="-2514600" y="-991338"/>
            <a:ext cx="2514600" cy="9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090" name="AutoShape 18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24336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1" name="AutoShape 19" descr="data:image/gif;base64,R0lGODlhAQABAIAAAP///////yH5BAEKAAEALAAAAAABAAEAAAICTAEAOw=="/>
          <p:cNvSpPr>
            <a:spLocks noChangeAspect="1" noChangeArrowheads="1"/>
          </p:cNvSpPr>
          <p:nvPr/>
        </p:nvSpPr>
        <p:spPr bwMode="auto">
          <a:xfrm>
            <a:off x="63500" y="-10604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3" name="AutoShape 21" descr="data:image/gif;base64,R0lGODlhAQABAIAAAP///////yH5BAEKAAEALAAAAAABAAEAAAICTAEAOw=="/>
          <p:cNvSpPr>
            <a:spLocks noChangeAspect="1" noChangeArrowheads="1"/>
          </p:cNvSpPr>
          <p:nvPr/>
        </p:nvSpPr>
        <p:spPr bwMode="auto">
          <a:xfrm>
            <a:off x="66675" y="36988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4" name="AutoShape 22" descr="data:image/gif;base64,R0lGODlhAQABAIAAAP///////yH5BAEKAAEALAAAAAABAAEAAAICTAEAOw=="/>
          <p:cNvSpPr>
            <a:spLocks noChangeAspect="1" noChangeArrowheads="1"/>
          </p:cNvSpPr>
          <p:nvPr/>
        </p:nvSpPr>
        <p:spPr bwMode="auto">
          <a:xfrm>
            <a:off x="66675" y="9477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5" name="AutoShape 23" descr="data:image/jpeg;base64,/9j/4AAQSkZJRgABAQAAAQABAAD/2wCEAAkGBwgHBgkIBwgKCgkLDRYPDQwMDRsUFRAWIB0iIiAdHx8kKDQsJCYxJx8fLT0tMTU3Ojo6Iys/RD84QzQ5OjcBCgoKDQwNGg8PGjclHyU3Nzc3Nzc3Nzc3Nzc3Nzc3Nzc3Nzc3NTc3Nzc3Nzc3Nzc3Nzc3LTc3Kys1NzU3LS0rNf/AABEIACAAIAMBIgACEQEDEQH/xAAYAAADAQEAAAAAAAAAAAAAAAAEBQYDB//EACsQAAIBAgQEBQUBAAAAAAAAAAECAwQRAAUTIRIxQWEGUYGRsTNCkqHhB//EABYBAQEBAAAAAAAAAAAAAAAAAAMCBP/EABwRAAICAgMAAAAAAAAAAAAAAAECABIDBBEhIv/aAAwDAQACEQMRAD8ANZuCJ5HHCFW5F+mIXMc3rcwrFio1kZ3b6YN/TFzVRrJSyxJwlnRlBHna2I//AD6Mx5tPU1K6aU6kO77BT1uffGDW4AJlolmAimplzygcpUUckDc9TSOGPhzxFNPVLSV13LbK3I379sdQpc0y+qusNXBKy8wGG3pia8SUtJNn2XVVKY9RFkEmlbcAC1/y/eGdgymwjZNcKtgYZGQwJ5eVhc43p1oommZoAkUzXkFrG/n/AHC+ikE4SdnLwOwWON16XsWJ+BhlnsT0mY1FlLAStxL2vcH2IwC4mQcmVqnszOOPJ2qHUSMnEhQajG57i/zgOWDLoIojQI6kgh9Qb9NjgnLYqatqYYYY3EsjcKx8Nhe19j064wkkTWkpZVNPNE3AyNzRh9rD235Eb74VkZl8xM7rWs//2Q=="/>
          <p:cNvSpPr>
            <a:spLocks noChangeAspect="1" noChangeArrowheads="1"/>
          </p:cNvSpPr>
          <p:nvPr/>
        </p:nvSpPr>
        <p:spPr bwMode="auto">
          <a:xfrm>
            <a:off x="158750" y="181451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6" name="AutoShape 24" descr="data:image/png;base64,iVBORw0KGgoAAAANSUhEUgAAABAAAAAQCAYAAAAf8/9hAAAAcElEQVR4AWP4//8/RZh6BgCZAkDsAMUNWDFCXgDFACCV8J/B+D8pGKwHRAKRAUyQDEMMQAYEUGBAAsiABpwKHjz4/9/BAZ8BDXgNgIMNGyg04MABkg1AeCEgAK8XKA5EiqORooSELykXEJuUBz43AgAIA1ZhBoG9vwAAAABJRU5ErkJggg=="/>
          <p:cNvSpPr>
            <a:spLocks noChangeAspect="1" noChangeArrowheads="1"/>
          </p:cNvSpPr>
          <p:nvPr/>
        </p:nvSpPr>
        <p:spPr bwMode="auto">
          <a:xfrm>
            <a:off x="158750" y="21034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7" name="AutoShape 25" descr="data:image/gif;base64,R0lGODlhAQABAIAAAP///////yH5BAEKAAEALAAAAAABAAEAAAICTAEAOw=="/>
          <p:cNvSpPr>
            <a:spLocks noChangeAspect="1" noChangeArrowheads="1"/>
          </p:cNvSpPr>
          <p:nvPr/>
        </p:nvSpPr>
        <p:spPr bwMode="auto">
          <a:xfrm>
            <a:off x="158750" y="268128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2" name="AutoShape 30" descr="data:image/gif;base64,R0lGODlhAQABAIAAAP///////yH5BAEKAAEALAAAAAABAAEAAAICTAEAOw=="/>
          <p:cNvSpPr>
            <a:spLocks noChangeAspect="1" noChangeArrowheads="1"/>
          </p:cNvSpPr>
          <p:nvPr/>
        </p:nvSpPr>
        <p:spPr bwMode="auto">
          <a:xfrm>
            <a:off x="158750" y="4127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5" name="AutoShape 33" descr="data:image/gif;base64,R0lGODlhAQABAIAAAP///////yH5BAEKAAEALAAAAAABAAEAAAICTAEAOw=="/>
          <p:cNvSpPr>
            <a:spLocks noChangeAspect="1" noChangeArrowheads="1"/>
          </p:cNvSpPr>
          <p:nvPr/>
        </p:nvSpPr>
        <p:spPr bwMode="auto">
          <a:xfrm>
            <a:off x="63500" y="-32734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6" name="AutoShape 34" descr="data:image/gif;base64,R0lGODlhAQABAIAAAP///////yH5BAEKAAEALAAAAAABAAEAAAICTAEAOw=="/>
          <p:cNvSpPr>
            <a:spLocks noChangeAspect="1" noChangeArrowheads="1"/>
          </p:cNvSpPr>
          <p:nvPr/>
        </p:nvSpPr>
        <p:spPr bwMode="auto">
          <a:xfrm>
            <a:off x="66675" y="-213201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7" name="AutoShape 35" descr="data:image/gif;base64,R0lGODlhAQABAIAAAP///////yH5BAEKAAEALAAAAAABAAEAAAICTAEAOw=="/>
          <p:cNvSpPr>
            <a:spLocks noChangeAspect="1" noChangeArrowheads="1"/>
          </p:cNvSpPr>
          <p:nvPr/>
        </p:nvSpPr>
        <p:spPr bwMode="auto">
          <a:xfrm>
            <a:off x="66675" y="-155416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12" name="AutoShape 40" descr="Karnaugh Maps (K-Map) | 1-6 Variables Simplification &amp; Examp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113" name="Picture 4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2152650"/>
            <a:ext cx="40386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096000"/>
            <a:ext cx="7620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838200"/>
            <a:ext cx="5795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y(A,B,C</a:t>
            </a:r>
            <a:r>
              <a:rPr lang="en-US" b="1" dirty="0" smtClean="0"/>
              <a:t>) = Σ (0,1,3,6,7)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66800" y="3244334"/>
            <a:ext cx="48310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 </a:t>
            </a:r>
            <a:r>
              <a:rPr lang="en-US" b="1" dirty="0" smtClean="0"/>
              <a:t>y(A,B,C) </a:t>
            </a:r>
            <a:r>
              <a:rPr lang="en-US" b="1" dirty="0" smtClean="0"/>
              <a:t>= </a:t>
            </a:r>
            <a:r>
              <a:rPr lang="el-GR" b="1" dirty="0" smtClean="0"/>
              <a:t>Σ (4,5,7)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219200"/>
            <a:ext cx="8458200" cy="252376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2060"/>
                </a:solidFill>
              </a:rPr>
              <a:t> Simplify the expression using K-maps: F(A,B,C,D)=</a:t>
            </a:r>
            <a:r>
              <a:rPr lang="el-GR" sz="2000" dirty="0" smtClean="0">
                <a:solidFill>
                  <a:srgbClr val="002060"/>
                </a:solidFill>
              </a:rPr>
              <a:t>Σ (1,3,5,6,7,11,13,14).</a:t>
            </a:r>
            <a:br>
              <a:rPr lang="el-GR" sz="2000" dirty="0" smtClean="0">
                <a:solidFill>
                  <a:srgbClr val="002060"/>
                </a:solidFill>
              </a:rPr>
            </a:br>
            <a:r>
              <a:rPr lang="en-US" sz="2000" dirty="0" smtClean="0">
                <a:solidFill>
                  <a:srgbClr val="002060"/>
                </a:solidFill>
              </a:rPr>
              <a:t>a) AB+BC’D+A’B’C</a:t>
            </a:r>
            <a:br>
              <a:rPr lang="en-US" sz="2000" dirty="0" smtClean="0">
                <a:solidFill>
                  <a:srgbClr val="002060"/>
                </a:solidFill>
              </a:rPr>
            </a:br>
            <a:r>
              <a:rPr lang="en-US" sz="2000" dirty="0" smtClean="0">
                <a:solidFill>
                  <a:srgbClr val="002060"/>
                </a:solidFill>
              </a:rPr>
              <a:t>b) BCD’+A’C’D+BD’</a:t>
            </a:r>
            <a:br>
              <a:rPr lang="en-US" sz="2000" dirty="0" smtClean="0">
                <a:solidFill>
                  <a:srgbClr val="002060"/>
                </a:solidFill>
              </a:rPr>
            </a:br>
            <a:r>
              <a:rPr lang="en-US" sz="2000" dirty="0" smtClean="0">
                <a:solidFill>
                  <a:srgbClr val="002060"/>
                </a:solidFill>
              </a:rPr>
              <a:t>c) A’D+BCD+A’BC+AB’C’</a:t>
            </a:r>
            <a:br>
              <a:rPr lang="en-US" sz="2000" dirty="0" smtClean="0">
                <a:solidFill>
                  <a:srgbClr val="002060"/>
                </a:solidFill>
              </a:rPr>
            </a:br>
            <a:r>
              <a:rPr lang="en-US" sz="2000" dirty="0" smtClean="0">
                <a:solidFill>
                  <a:srgbClr val="002060"/>
                </a:solidFill>
              </a:rPr>
              <a:t>d) AC’D’+BC+A’BD+C’D’</a:t>
            </a:r>
            <a:br>
              <a:rPr lang="en-US" sz="2000" dirty="0" smtClean="0">
                <a:solidFill>
                  <a:srgbClr val="002060"/>
                </a:solidFill>
              </a:rPr>
            </a:br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002060"/>
                </a:solidFill>
              </a:rPr>
              <a:t>Answer: c</a:t>
            </a:r>
            <a:r>
              <a:rPr lang="en-US" dirty="0" smtClean="0">
                <a:solidFill>
                  <a:srgbClr val="002060"/>
                </a:solidFill>
              </a:rPr>
              <a:t/>
            </a:r>
            <a:br>
              <a:rPr lang="en-US" dirty="0" smtClean="0">
                <a:solidFill>
                  <a:srgbClr val="002060"/>
                </a:solidFill>
              </a:rPr>
            </a:b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063F1431-1E20-4817-8C83-676E65AC2BFB}"/>
</file>

<file path=customXml/itemProps2.xml><?xml version="1.0" encoding="utf-8"?>
<ds:datastoreItem xmlns:ds="http://schemas.openxmlformats.org/officeDocument/2006/customXml" ds:itemID="{1A67E4D6-F1FE-42BB-98E1-0AADD81CEEB8}"/>
</file>

<file path=customXml/itemProps3.xml><?xml version="1.0" encoding="utf-8"?>
<ds:datastoreItem xmlns:ds="http://schemas.openxmlformats.org/officeDocument/2006/customXml" ds:itemID="{FDC4B34A-D69E-4C0D-BD29-AFBB747FCECE}"/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320</Words>
  <Application>Microsoft Office PowerPoint</Application>
  <PresentationFormat>On-screen Show (4:3)</PresentationFormat>
  <Paragraphs>67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28</cp:revision>
  <dcterms:created xsi:type="dcterms:W3CDTF">2025-11-25T10:20:57Z</dcterms:created>
  <dcterms:modified xsi:type="dcterms:W3CDTF">2026-01-17T05:35:47Z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