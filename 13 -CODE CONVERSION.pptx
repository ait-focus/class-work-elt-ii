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63" r:id="rId6"/>
    <p:sldId id="261" r:id="rId7"/>
    <p:sldId id="259" r:id="rId8"/>
    <p:sldId id="260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5FC05-FC84-4C1C-97CB-6898FCDF8CAD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832CB-F5D3-4D0D-BC60-50310F607F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832CB-F5D3-4D0D-BC60-50310F607F2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61493-4AB6-4421-8E53-EB96217EA5F5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2D6DA-658F-4C2F-A873-05F5F0A66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Bismillah arabic written in islamic arabic calligraphy meaning of bismillah  in the name of allah | Premium Vec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0" name="AutoShape 4" descr="Bismillah arabic written in islamic arabic calligraphy meaning of bismillah  in the name of allah | Premium Vec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2" name="AutoShape 6" descr="Premium Vector | Arabic bismillah calligraphy written text in the name of  allah vecto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4" name="AutoShape 8" descr="2+ Hundred Bismillah Png Royalty-Free Images, Stock Photos &amp; Pictures |  Shutter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6" name="AutoShape 10" descr="bismillah calligraphy islamic design cont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8" name="AutoShape 12" descr="Arabic calligraphy of Bismillah &quot;Bismillah al-Rahman al-Rahim&quot;, the first verse of Quran, in Thuluth script. Translation: “In the Name of God, Most Gracious, Most Merciful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10" name="AutoShape 14" descr="Arabic calligraphy of Bismillah &quot;Bismillah al-Rahman al-Rahim&quot;, the first verse of Quran, in Thuluth script. Translation: “In the Name of God, Most Gracious, Most Merciful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1667" t="11765" r="11667" b="13235"/>
          <a:stretch>
            <a:fillRect/>
          </a:stretch>
        </p:blipFill>
        <p:spPr bwMode="auto">
          <a:xfrm>
            <a:off x="1066800" y="1066800"/>
            <a:ext cx="7010400" cy="3886200"/>
          </a:xfrm>
          <a:prstGeom prst="rect">
            <a:avLst/>
          </a:prstGeom>
          <a:ln w="190500" cap="sq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219201"/>
            <a:ext cx="7391400" cy="329320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US" sz="4800" b="1" u="sng" dirty="0" smtClean="0"/>
              <a:t>Code conversion </a:t>
            </a:r>
          </a:p>
          <a:p>
            <a:r>
              <a:rPr lang="en-US" sz="4000" b="1" u="sng" dirty="0" smtClean="0">
                <a:solidFill>
                  <a:srgbClr val="FF0000"/>
                </a:solidFill>
              </a:rPr>
              <a:t>Code conversion is the process of changing data or software from one format, code, or language to another.</a:t>
            </a:r>
            <a:endParaRPr lang="en-US" sz="4000" b="1" u="sng" dirty="0">
              <a:solidFill>
                <a:srgbClr val="FF0000"/>
              </a:solidFill>
            </a:endParaRPr>
          </a:p>
        </p:txBody>
      </p:sp>
      <p:sp>
        <p:nvSpPr>
          <p:cNvPr id="3074" name="AutoShape 2" descr="Binary to Decimal Converter - Inch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0"/>
            <a:ext cx="76962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143000"/>
            <a:ext cx="6629400" cy="440120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DECIMAL TO BINARY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BINARY TO DECIMAL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DECIMAL TO BCD 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BCD TO BINARY 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OCTAL TO DECIMAL CONVESION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DECIMAL TO OCTAL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HEX TO BINARY  </a:t>
            </a: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CONVERSION</a:t>
            </a:r>
            <a:endParaRPr lang="en-US" sz="2800" u="sng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BINARY TO HEX</a:t>
            </a: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BINARY TO GREY</a:t>
            </a: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 CONVERSION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GREY TO BINARY  </a:t>
            </a:r>
            <a:r>
              <a:rPr lang="en-US" sz="2800" u="sng" dirty="0" smtClean="0">
                <a:solidFill>
                  <a:schemeClr val="accent3">
                    <a:lumMod val="75000"/>
                  </a:schemeClr>
                </a:solidFill>
              </a:rPr>
              <a:t>CONVERSION</a:t>
            </a:r>
            <a:endParaRPr lang="en-US" sz="2800" u="sng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5943600"/>
            <a:ext cx="685800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Decimal to Binary Converter - GeeksforGeek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85800"/>
            <a:ext cx="7772400" cy="4495800"/>
          </a:xfrm>
          <a:prstGeom prst="rect">
            <a:avLst/>
          </a:prstGeom>
          <a:ln w="190500" cap="sq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056" name="AutoShape 8" descr="convert the decimal number into it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2" name="AutoShape 14" descr="binary2decim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6324600"/>
            <a:ext cx="78486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C:\Users\xp11\Desktop\binary2decim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066801"/>
            <a:ext cx="7467600" cy="4343400"/>
          </a:xfrm>
          <a:prstGeom prst="rect">
            <a:avLst/>
          </a:prstGeom>
          <a:ln w="228600" cap="sq" cmpd="thickThin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990600" y="5943600"/>
            <a:ext cx="754380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200" y="6172200"/>
            <a:ext cx="66294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  <p:sp>
        <p:nvSpPr>
          <p:cNvPr id="4098" name="AutoShape 2" descr="Binary to decimal conversion of number table 0 to 9. The binary number system. Binary to decimal conversion. Value of digits in the binary numeral system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0" name="Picture 4" descr="Decimal Numbering System to Binary Numbering System tab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838200"/>
            <a:ext cx="5943600" cy="4572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Binary to Decimal Examples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533400"/>
            <a:ext cx="7867650" cy="5076825"/>
          </a:xfrm>
          <a:prstGeom prst="rect">
            <a:avLst/>
          </a:prstGeom>
          <a:ln w="2286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838200" y="6324600"/>
            <a:ext cx="75438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NF130188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762000"/>
            <a:ext cx="6705600" cy="4495800"/>
          </a:xfrm>
          <a:prstGeom prst="rect">
            <a:avLst/>
          </a:prstGeom>
          <a:ln w="190500" cap="sq">
            <a:solidFill>
              <a:srgbClr val="C0000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990600" y="6019800"/>
            <a:ext cx="69342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533400" y="931801"/>
            <a:ext cx="8077200" cy="435694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For example, let's go through the conversion of 264</a:t>
            </a:r>
            <a:r>
              <a:rPr kumimoji="0" lang="en-US" sz="2000" b="0" i="0" u="none" strike="noStrike" cap="none" normalizeH="0" baseline="-2500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10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 to BCD.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2 = 0010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6 = 0110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4 = 0100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The BCD equivalent of 264 is 001001100100.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To convert from BCD to decimal, simply reverse the process as shown: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1001 = 9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1000 = 8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Arial" pitchFamily="34" charset="0"/>
                <a:cs typeface="Arial" pitchFamily="34" charset="0"/>
              </a:rPr>
              <a:t>0011 =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6019800"/>
            <a:ext cx="784860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 rot="10800000" flipV="1">
            <a:off x="609600" y="299465"/>
            <a:ext cx="7467600" cy="48874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Convert (0011 0101)BCD to Binary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Group: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(0011) (0101)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Nibble to Decimal: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0011 = 3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0101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Form Decimal: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decimal number is 35.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Decimal to Binary (35):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35 ÷ 2 = 17 R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17 ÷ 2 = 8 R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8 ÷ 2 = 4 R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0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4 ÷ 2 = 2 R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0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2 ÷ 2 = 1 R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0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1 ÷ 2 = 0 R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Reading remainders from bottom to top: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100011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So, (0011 0101)BCD = (100011)₂. 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5791200"/>
            <a:ext cx="7162800" cy="381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228600" y="281760"/>
            <a:ext cx="8305800" cy="36255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</a:t>
            </a:r>
            <a:r>
              <a:rPr kumimoji="0" lang="en-US" sz="3200" b="1" i="0" u="sng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CONVERT </a:t>
            </a:r>
            <a:r>
              <a:rPr kumimoji="0" lang="en-US" sz="1200" b="1" i="0" u="sng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 </a:t>
            </a:r>
            <a:r>
              <a:rPr kumimoji="0" lang="en-US" sz="3200" b="1" i="0" u="sng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BINARY TO BCD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Binary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1101101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(109 in decimal)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Binary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1101101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(1*64) + (1*32) + (0*16) + (1*8) + (1*4) + (0*2) + (1*1)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 109 (decimal).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Separate digits: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,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,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9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Convert each: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-&gt;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,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-&gt;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0000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,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9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-&gt;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1001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Concatenate: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0001 0000 1001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638800"/>
            <a:ext cx="762000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Octal to Decimal Convers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381001"/>
            <a:ext cx="7391400" cy="4876800"/>
          </a:xfrm>
          <a:prstGeom prst="rect">
            <a:avLst/>
          </a:prstGeom>
          <a:ln w="228600" cap="sq" cmpd="thickThin">
            <a:solidFill>
              <a:schemeClr val="accent3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762000" y="5943600"/>
            <a:ext cx="7924800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 descr="Decimal to Octal Convers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627" name="Picture 3" descr="C:\Users\xp11\Desktop\Decimal-to-Octal-Conversion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457200"/>
            <a:ext cx="6934200" cy="4572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chemeClr val="accent2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38200" y="5943600"/>
            <a:ext cx="792480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 rot="10800000" flipV="1">
            <a:off x="533400" y="258388"/>
            <a:ext cx="2590800" cy="55030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Conversion Table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0000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0001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2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3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4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0100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5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0101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6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0110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7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0111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8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1000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9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1001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A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(10) 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1010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B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(11) 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1011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C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(12) 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D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(13) 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(14) 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1110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F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(15) =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1111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/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</a:b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91000" y="1338953"/>
            <a:ext cx="4419600" cy="328703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Convert Hex </a:t>
            </a: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2F</a:t>
            </a: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 to Binary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 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2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 Convert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2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to binary: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0010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F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 Convert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F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(15) to binary: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1111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Combine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0010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+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1111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00101111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So,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2F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(Hex) is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00101111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(Binary). 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5867400"/>
            <a:ext cx="7924800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304800" y="285832"/>
            <a:ext cx="8534400" cy="44258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Convert </a:t>
            </a: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1101011101</a:t>
            </a: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  <a:cs typeface="Arial" pitchFamily="34" charset="0"/>
              </a:rPr>
              <a:t> to Hex </a:t>
            </a:r>
            <a:endParaRPr kumimoji="0" lang="en-US" sz="2800" b="0" i="0" u="sng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Group: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1101 0111 01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(Add leading zeros to the first group) -&gt;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0011 0101 1101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Convert: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0011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 3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0101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 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= 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Combine: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35D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.</a:t>
            </a:r>
            <a:b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</a:b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So,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1101011101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(binary) =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 pitchFamily="34" charset="-128"/>
                <a:cs typeface="Arial" pitchFamily="34" charset="0"/>
              </a:rPr>
              <a:t>35D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(hexadecimal).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5791200"/>
            <a:ext cx="8153400" cy="381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AutoShape 2" descr="https://media.geeksforgeeks.org/wp-content/uploads/20220420085103/Screenshot695-300x191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700" name="AutoShape 4" descr="Lightbo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701" name="Picture 5" descr="C:\Users\xp11\Desktop\Screenshot695-300x19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581400"/>
            <a:ext cx="7162800" cy="2209800"/>
          </a:xfrm>
          <a:prstGeom prst="rect">
            <a:avLst/>
          </a:prstGeom>
          <a:ln w="88900" cap="sq" cmpd="thickThin">
            <a:solidFill>
              <a:schemeClr val="tx1">
                <a:lumMod val="95000"/>
                <a:lumOff val="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9704" name="Picture 8" descr="XOR gate truth table and symbo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457200"/>
            <a:ext cx="6858000" cy="2743200"/>
          </a:xfrm>
          <a:prstGeom prst="rect">
            <a:avLst/>
          </a:prstGeom>
          <a:ln w="228600" cap="sq" cmpd="thickThin">
            <a:solidFill>
              <a:schemeClr val="accent3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/>
          <p:cNvSpPr txBox="1"/>
          <p:nvPr/>
        </p:nvSpPr>
        <p:spPr>
          <a:xfrm>
            <a:off x="1066800" y="6172200"/>
            <a:ext cx="69342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xp11\Desktop\Screenshot696-300x20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914400"/>
            <a:ext cx="7239000" cy="39624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7030A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57200" y="6172200"/>
            <a:ext cx="8153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 YEAR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25AC7048-4C7B-4CA6-9CA5-048D59B7FDB1}"/>
</file>

<file path=customXml/itemProps2.xml><?xml version="1.0" encoding="utf-8"?>
<ds:datastoreItem xmlns:ds="http://schemas.openxmlformats.org/officeDocument/2006/customXml" ds:itemID="{72807130-7A07-4764-9A4F-8CA8D3EE15EC}"/>
</file>

<file path=customXml/itemProps3.xml><?xml version="1.0" encoding="utf-8"?>
<ds:datastoreItem xmlns:ds="http://schemas.openxmlformats.org/officeDocument/2006/customXml" ds:itemID="{20AFBCFC-CEB4-426E-A5F1-A1635463A319}"/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118</Words>
  <Application>Microsoft Office PowerPoint</Application>
  <PresentationFormat>On-screen Show (4:3)</PresentationFormat>
  <Paragraphs>93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18</cp:revision>
  <dcterms:created xsi:type="dcterms:W3CDTF">2025-12-07T06:39:59Z</dcterms:created>
  <dcterms:modified xsi:type="dcterms:W3CDTF">2026-01-05T17:12:19Z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