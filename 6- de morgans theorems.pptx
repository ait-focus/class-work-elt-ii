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72" r:id="rId4"/>
    <p:sldId id="273" r:id="rId5"/>
    <p:sldId id="265" r:id="rId6"/>
    <p:sldId id="270" r:id="rId7"/>
    <p:sldId id="259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06B51-066F-421D-B496-86556AB620FE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 descr="Meaning of bismillah al rahman al rahi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2" name="Picture 4" descr="6+ Hundred Bismillah Rahman Rahim Royalty-Free Images, Stock Photos &amp;  Pictures | Shuttersto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371600"/>
            <a:ext cx="6477000" cy="381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7030A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6019800"/>
            <a:ext cx="8001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828800"/>
            <a:ext cx="7239000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/>
              <a:t>De Morgan’s Theorems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33400"/>
            <a:ext cx="7543800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404041"/>
                </a:solidFill>
                <a:latin typeface="Lato"/>
                <a:cs typeface="Arial" pitchFamily="34" charset="0"/>
              </a:rPr>
              <a:t>De Morgan’s First Theorem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De Morgan’s First theorem proves that when two (or more) input variables are </a:t>
            </a:r>
            <a:r>
              <a:rPr lang="en-US" dirty="0" smtClean="0">
                <a:solidFill>
                  <a:srgbClr val="414143"/>
                </a:solidFill>
                <a:latin typeface="Lato"/>
                <a:cs typeface="Arial" pitchFamily="34" charset="0"/>
              </a:rPr>
              <a:t>AND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 </a:t>
            </a:r>
            <a:r>
              <a:rPr lang="en-US" dirty="0" err="1" smtClean="0">
                <a:solidFill>
                  <a:srgbClr val="414042"/>
                </a:solidFill>
                <a:latin typeface="Lato"/>
                <a:cs typeface="Arial" pitchFamily="34" charset="0"/>
              </a:rPr>
              <a:t>and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 negated, they are equivalent to the </a:t>
            </a:r>
            <a:r>
              <a:rPr lang="en-US" dirty="0" smtClean="0">
                <a:solidFill>
                  <a:srgbClr val="414143"/>
                </a:solidFill>
                <a:latin typeface="Lato"/>
                <a:cs typeface="Arial" pitchFamily="34" charset="0"/>
              </a:rPr>
              <a:t>OR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 of the complements of the individual variables. Thus the equivalent of the </a:t>
            </a:r>
            <a:r>
              <a:rPr lang="en-US" dirty="0" smtClean="0">
                <a:solidFill>
                  <a:srgbClr val="414143"/>
                </a:solidFill>
                <a:latin typeface="Lato"/>
                <a:cs typeface="Arial" pitchFamily="34" charset="0"/>
              </a:rPr>
              <a:t>NAND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 function will be a negative-OR function, proving that A.B = A+B. We can show this operation using the following table.</a:t>
            </a:r>
            <a:endParaRPr lang="en-US" b="1" dirty="0" smtClean="0">
              <a:solidFill>
                <a:srgbClr val="404041"/>
              </a:solidFill>
              <a:latin typeface="Lato"/>
              <a:cs typeface="Arial" pitchFamily="34" charset="0"/>
            </a:endParaRPr>
          </a:p>
        </p:txBody>
      </p:sp>
      <p:sp>
        <p:nvSpPr>
          <p:cNvPr id="19458" name="AutoShape 2" descr="Half Adder and Full Adder Explained - ALL ABOUT ELECTRON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90600" y="6324600"/>
            <a:ext cx="75438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31242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solidFill>
                <a:srgbClr val="404041"/>
              </a:solidFill>
              <a:latin typeface="Lato"/>
              <a:cs typeface="Arial" pitchFamily="34" charset="0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743200"/>
            <a:ext cx="75438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6096000"/>
            <a:ext cx="75438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95400" y="990600"/>
          <a:ext cx="6335773" cy="42672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31321"/>
                <a:gridCol w="731321"/>
                <a:gridCol w="877585"/>
                <a:gridCol w="877585"/>
                <a:gridCol w="877585"/>
                <a:gridCol w="877585"/>
                <a:gridCol w="877585"/>
                <a:gridCol w="485206"/>
              </a:tblGrid>
              <a:tr h="71120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 marL="47625" marR="47625" marT="95250" marB="9525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Truth Table Outputs For Each Term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 marL="47625" marR="47625" marT="95250" marB="9525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A.B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A.B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 + 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248400"/>
            <a:ext cx="77724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609600"/>
            <a:ext cx="7620000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404041"/>
                </a:solidFill>
                <a:latin typeface="Lato"/>
                <a:cs typeface="Arial" pitchFamily="34" charset="0"/>
              </a:rPr>
              <a:t>De Morgan’s Second Theorem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De Morgan’s Second theorem proves that when two (or more) input variables are </a:t>
            </a:r>
            <a:r>
              <a:rPr lang="en-US" dirty="0" smtClean="0">
                <a:solidFill>
                  <a:srgbClr val="414143"/>
                </a:solidFill>
                <a:latin typeface="Lato"/>
                <a:cs typeface="Arial" pitchFamily="34" charset="0"/>
              </a:rPr>
              <a:t>OR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 and negated, they are equivalent to the </a:t>
            </a:r>
            <a:r>
              <a:rPr lang="en-US" dirty="0" smtClean="0">
                <a:solidFill>
                  <a:srgbClr val="414143"/>
                </a:solidFill>
                <a:latin typeface="Lato"/>
                <a:cs typeface="Arial" pitchFamily="34" charset="0"/>
              </a:rPr>
              <a:t>AND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 of the complements of the individual variables. Thus the equivalent of the </a:t>
            </a:r>
            <a:r>
              <a:rPr lang="en-US" dirty="0" smtClean="0">
                <a:solidFill>
                  <a:srgbClr val="414143"/>
                </a:solidFill>
                <a:latin typeface="Lato"/>
                <a:cs typeface="Arial" pitchFamily="34" charset="0"/>
              </a:rPr>
              <a:t>NOR</a:t>
            </a:r>
            <a:r>
              <a:rPr lang="en-US" dirty="0" smtClean="0">
                <a:solidFill>
                  <a:srgbClr val="414042"/>
                </a:solidFill>
                <a:latin typeface="Lato"/>
                <a:cs typeface="Arial" pitchFamily="34" charset="0"/>
              </a:rPr>
              <a:t> function is a negative-AND function proving that A+B = A.B, and again we can show operation this using the following truth table.</a:t>
            </a:r>
            <a:endParaRPr lang="en-US" b="1" dirty="0" smtClean="0">
              <a:solidFill>
                <a:srgbClr val="404041"/>
              </a:solidFill>
              <a:latin typeface="Lato"/>
              <a:cs typeface="Arial" pitchFamily="34" charset="0"/>
            </a:endParaRPr>
          </a:p>
        </p:txBody>
      </p:sp>
      <p:sp>
        <p:nvSpPr>
          <p:cNvPr id="8194" name="AutoShape 2" descr="frame_1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895600"/>
            <a:ext cx="7620000" cy="2819400"/>
          </a:xfrm>
          <a:prstGeom prst="rect">
            <a:avLst/>
          </a:prstGeom>
          <a:ln w="88900" cap="sq" cmpd="thickThin">
            <a:solidFill>
              <a:srgbClr val="FFFF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Logic Gates and Truth Tabl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6172200"/>
            <a:ext cx="8229600" cy="38100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066800"/>
          <a:ext cx="6629403" cy="3810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65213"/>
                <a:gridCol w="765213"/>
                <a:gridCol w="918257"/>
                <a:gridCol w="918257"/>
                <a:gridCol w="918257"/>
                <a:gridCol w="918257"/>
                <a:gridCol w="918257"/>
                <a:gridCol w="507692"/>
              </a:tblGrid>
              <a:tr h="63500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Truth Table Outputs For Each Term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 . B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>
                        <a:solidFill>
                          <a:srgbClr val="414143"/>
                        </a:solidFill>
                      </a:endParaRPr>
                    </a:p>
                  </a:txBody>
                  <a:tcPr marL="47625" marR="47625" marT="95250" marB="952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Logic Gates and Truth Tabl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6172200"/>
            <a:ext cx="8229600" cy="38100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3074" name="Picture 2" descr="BooleanThree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914400"/>
            <a:ext cx="6419850" cy="3733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 descr="Half Adder and Full Adder Explained - ALL ABOUT ELECTRON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90600" y="6324600"/>
            <a:ext cx="75438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4" name="Picture 2" descr="BooleanOne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066800"/>
            <a:ext cx="7239000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accent4"/>
        </a:solidFill>
      </a:spPr>
      <a:bodyPr wrap="square" rtlCol="0">
        <a:spAutoFit/>
      </a:bodyPr>
      <a:lstStyle>
        <a:defPPr algn="ctr">
          <a:defRPr sz="5400" b="1" u="sng" dirty="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15AFAE42-9A53-4A34-9C1D-2D2B3360B5DA}"/>
</file>

<file path=customXml/itemProps2.xml><?xml version="1.0" encoding="utf-8"?>
<ds:datastoreItem xmlns:ds="http://schemas.openxmlformats.org/officeDocument/2006/customXml" ds:itemID="{8762DC65-BE4E-4A3E-8F2F-0DE69ABD658F}"/>
</file>

<file path=customXml/itemProps3.xml><?xml version="1.0" encoding="utf-8"?>
<ds:datastoreItem xmlns:ds="http://schemas.openxmlformats.org/officeDocument/2006/customXml" ds:itemID="{94D02D10-EB89-47D4-B75D-CA8BC26E39ED}"/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146</Words>
  <Application>Microsoft Office PowerPoint</Application>
  <PresentationFormat>On-screen Show (4:3)</PresentationFormat>
  <Paragraphs>86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17</cp:revision>
  <dcterms:created xsi:type="dcterms:W3CDTF">2025-11-25T10:20:57Z</dcterms:created>
  <dcterms:modified xsi:type="dcterms:W3CDTF">2025-12-01T16:18:27Z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