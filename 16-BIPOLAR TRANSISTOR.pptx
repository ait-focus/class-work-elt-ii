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3.xml" ContentType="application/vnd.openxmlformats-officedocument.presentationml.slideLayout+xml"/>
  <Override PartName="/ppt/slideLayouts/slideLayout9.xml" ContentType="application/vnd.openxmlformats-officedocument.presentationml.slideLayout+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53" d="100"/>
          <a:sy n="53" d="100"/>
        </p:scale>
        <p:origin x="1416"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12" Type="http://schemas.openxmlformats.org/officeDocument/2006/relationships/customXml" Target="../customXml/item3.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11" Type="http://schemas.openxmlformats.org/officeDocument/2006/relationships/customXml" Target="../customXml/item2.xml"/><Relationship Id="rId5" Type="http://schemas.openxmlformats.org/officeDocument/2006/relationships/slide" Target="slides/slide4.xml"/><Relationship Id="rId10"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4E517-F712-40CA-A23C-6A1E2702F7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48E15B1-6315-4CF7-91E1-12874F1373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AE68AE8-8DB9-42DD-B0FD-250D4B105384}"/>
              </a:ext>
            </a:extLst>
          </p:cNvPr>
          <p:cNvSpPr>
            <a:spLocks noGrp="1"/>
          </p:cNvSpPr>
          <p:nvPr>
            <p:ph type="dt" sz="half" idx="10"/>
          </p:nvPr>
        </p:nvSpPr>
        <p:spPr/>
        <p:txBody>
          <a:bodyPr/>
          <a:lstStyle/>
          <a:p>
            <a:fld id="{B1D008D5-2402-4AFE-9976-41801AF668E5}" type="datetimeFigureOut">
              <a:rPr lang="en-US" smtClean="0"/>
              <a:t>8/4/2020</a:t>
            </a:fld>
            <a:endParaRPr lang="en-US"/>
          </a:p>
        </p:txBody>
      </p:sp>
      <p:sp>
        <p:nvSpPr>
          <p:cNvPr id="5" name="Footer Placeholder 4">
            <a:extLst>
              <a:ext uri="{FF2B5EF4-FFF2-40B4-BE49-F238E27FC236}">
                <a16:creationId xmlns:a16="http://schemas.microsoft.com/office/drawing/2014/main" id="{F1BA8712-5A21-4DAF-8C86-B8B56D7AAC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149FDE-73F9-43A3-A7C1-D8E38FAF4F3F}"/>
              </a:ext>
            </a:extLst>
          </p:cNvPr>
          <p:cNvSpPr>
            <a:spLocks noGrp="1"/>
          </p:cNvSpPr>
          <p:nvPr>
            <p:ph type="sldNum" sz="quarter" idx="12"/>
          </p:nvPr>
        </p:nvSpPr>
        <p:spPr/>
        <p:txBody>
          <a:bodyPr/>
          <a:lstStyle/>
          <a:p>
            <a:fld id="{4935BF7F-C269-413B-995C-4079279E4A4C}" type="slidenum">
              <a:rPr lang="en-US" smtClean="0"/>
              <a:t>‹#›</a:t>
            </a:fld>
            <a:endParaRPr lang="en-US"/>
          </a:p>
        </p:txBody>
      </p:sp>
    </p:spTree>
    <p:extLst>
      <p:ext uri="{BB962C8B-B14F-4D97-AF65-F5344CB8AC3E}">
        <p14:creationId xmlns:p14="http://schemas.microsoft.com/office/powerpoint/2010/main" val="38523622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4DEA1-29B4-4E51-8373-70486CBD6C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CD0473A-4D16-4E53-ACF4-FF2448097A8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CAB97B-C6D5-49CF-9EF1-F26AEE0B8ACA}"/>
              </a:ext>
            </a:extLst>
          </p:cNvPr>
          <p:cNvSpPr>
            <a:spLocks noGrp="1"/>
          </p:cNvSpPr>
          <p:nvPr>
            <p:ph type="dt" sz="half" idx="10"/>
          </p:nvPr>
        </p:nvSpPr>
        <p:spPr/>
        <p:txBody>
          <a:bodyPr/>
          <a:lstStyle/>
          <a:p>
            <a:fld id="{B1D008D5-2402-4AFE-9976-41801AF668E5}" type="datetimeFigureOut">
              <a:rPr lang="en-US" smtClean="0"/>
              <a:t>8/4/2020</a:t>
            </a:fld>
            <a:endParaRPr lang="en-US"/>
          </a:p>
        </p:txBody>
      </p:sp>
      <p:sp>
        <p:nvSpPr>
          <p:cNvPr id="5" name="Footer Placeholder 4">
            <a:extLst>
              <a:ext uri="{FF2B5EF4-FFF2-40B4-BE49-F238E27FC236}">
                <a16:creationId xmlns:a16="http://schemas.microsoft.com/office/drawing/2014/main" id="{1F9E08B0-7B58-4185-8AFE-5820BEAA78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50FC3E-CB55-4725-86FF-02ABE92C4B2C}"/>
              </a:ext>
            </a:extLst>
          </p:cNvPr>
          <p:cNvSpPr>
            <a:spLocks noGrp="1"/>
          </p:cNvSpPr>
          <p:nvPr>
            <p:ph type="sldNum" sz="quarter" idx="12"/>
          </p:nvPr>
        </p:nvSpPr>
        <p:spPr/>
        <p:txBody>
          <a:bodyPr/>
          <a:lstStyle/>
          <a:p>
            <a:fld id="{4935BF7F-C269-413B-995C-4079279E4A4C}" type="slidenum">
              <a:rPr lang="en-US" smtClean="0"/>
              <a:t>‹#›</a:t>
            </a:fld>
            <a:endParaRPr lang="en-US"/>
          </a:p>
        </p:txBody>
      </p:sp>
    </p:spTree>
    <p:extLst>
      <p:ext uri="{BB962C8B-B14F-4D97-AF65-F5344CB8AC3E}">
        <p14:creationId xmlns:p14="http://schemas.microsoft.com/office/powerpoint/2010/main" val="40614557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6A1E3-DC23-4659-821D-EF247222A6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D90D17E-119C-4D14-858B-319DE5D8559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27C824-9752-4DDE-B292-B29374D587C4}"/>
              </a:ext>
            </a:extLst>
          </p:cNvPr>
          <p:cNvSpPr>
            <a:spLocks noGrp="1"/>
          </p:cNvSpPr>
          <p:nvPr>
            <p:ph type="dt" sz="half" idx="10"/>
          </p:nvPr>
        </p:nvSpPr>
        <p:spPr/>
        <p:txBody>
          <a:bodyPr/>
          <a:lstStyle/>
          <a:p>
            <a:fld id="{B1D008D5-2402-4AFE-9976-41801AF668E5}" type="datetimeFigureOut">
              <a:rPr lang="en-US" smtClean="0"/>
              <a:t>8/4/2020</a:t>
            </a:fld>
            <a:endParaRPr lang="en-US"/>
          </a:p>
        </p:txBody>
      </p:sp>
      <p:sp>
        <p:nvSpPr>
          <p:cNvPr id="5" name="Footer Placeholder 4">
            <a:extLst>
              <a:ext uri="{FF2B5EF4-FFF2-40B4-BE49-F238E27FC236}">
                <a16:creationId xmlns:a16="http://schemas.microsoft.com/office/drawing/2014/main" id="{BC1BD2C8-FBDD-4BF8-A512-483E4A24B5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8D8F48-009A-47AF-9B57-CB5D3CD3C7AA}"/>
              </a:ext>
            </a:extLst>
          </p:cNvPr>
          <p:cNvSpPr>
            <a:spLocks noGrp="1"/>
          </p:cNvSpPr>
          <p:nvPr>
            <p:ph type="sldNum" sz="quarter" idx="12"/>
          </p:nvPr>
        </p:nvSpPr>
        <p:spPr/>
        <p:txBody>
          <a:bodyPr/>
          <a:lstStyle/>
          <a:p>
            <a:fld id="{4935BF7F-C269-413B-995C-4079279E4A4C}" type="slidenum">
              <a:rPr lang="en-US" smtClean="0"/>
              <a:t>‹#›</a:t>
            </a:fld>
            <a:endParaRPr lang="en-US"/>
          </a:p>
        </p:txBody>
      </p:sp>
    </p:spTree>
    <p:extLst>
      <p:ext uri="{BB962C8B-B14F-4D97-AF65-F5344CB8AC3E}">
        <p14:creationId xmlns:p14="http://schemas.microsoft.com/office/powerpoint/2010/main" val="15340588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E664B-6975-4BC1-A7FB-E4ACE7976AC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3D9C29-31CB-4FE7-B87F-75F08767F4D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70C536-74B2-44AE-8DB1-29B650DCB75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9F8F8A-ECFA-4F7D-B199-0575416975F7}"/>
              </a:ext>
            </a:extLst>
          </p:cNvPr>
          <p:cNvSpPr>
            <a:spLocks noGrp="1"/>
          </p:cNvSpPr>
          <p:nvPr>
            <p:ph type="dt" sz="half" idx="10"/>
          </p:nvPr>
        </p:nvSpPr>
        <p:spPr/>
        <p:txBody>
          <a:bodyPr/>
          <a:lstStyle/>
          <a:p>
            <a:fld id="{B1D008D5-2402-4AFE-9976-41801AF668E5}" type="datetimeFigureOut">
              <a:rPr lang="en-US" smtClean="0"/>
              <a:t>8/4/2020</a:t>
            </a:fld>
            <a:endParaRPr lang="en-US"/>
          </a:p>
        </p:txBody>
      </p:sp>
      <p:sp>
        <p:nvSpPr>
          <p:cNvPr id="6" name="Footer Placeholder 5">
            <a:extLst>
              <a:ext uri="{FF2B5EF4-FFF2-40B4-BE49-F238E27FC236}">
                <a16:creationId xmlns:a16="http://schemas.microsoft.com/office/drawing/2014/main" id="{717E1262-FE7F-4634-9487-F302DC9D9A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8C87E6-5A03-4060-88DD-A640D250F1E5}"/>
              </a:ext>
            </a:extLst>
          </p:cNvPr>
          <p:cNvSpPr>
            <a:spLocks noGrp="1"/>
          </p:cNvSpPr>
          <p:nvPr>
            <p:ph type="sldNum" sz="quarter" idx="12"/>
          </p:nvPr>
        </p:nvSpPr>
        <p:spPr/>
        <p:txBody>
          <a:bodyPr/>
          <a:lstStyle/>
          <a:p>
            <a:fld id="{4935BF7F-C269-413B-995C-4079279E4A4C}" type="slidenum">
              <a:rPr lang="en-US" smtClean="0"/>
              <a:t>‹#›</a:t>
            </a:fld>
            <a:endParaRPr lang="en-US"/>
          </a:p>
        </p:txBody>
      </p:sp>
    </p:spTree>
    <p:extLst>
      <p:ext uri="{BB962C8B-B14F-4D97-AF65-F5344CB8AC3E}">
        <p14:creationId xmlns:p14="http://schemas.microsoft.com/office/powerpoint/2010/main" val="4081745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E4BFE-6BDB-4713-B8D3-1F6DF53C40D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9EE6670-53F6-472F-A753-DE570C566F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9F67137-B866-4D59-98AA-626F08C0498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220079-FDBE-4833-A687-BEF88CE859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E6C83CE-D7B9-46C3-9AB0-0C69D2D187D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105139C-0AE4-4F8F-8C7A-EA01E2D66FF5}"/>
              </a:ext>
            </a:extLst>
          </p:cNvPr>
          <p:cNvSpPr>
            <a:spLocks noGrp="1"/>
          </p:cNvSpPr>
          <p:nvPr>
            <p:ph type="dt" sz="half" idx="10"/>
          </p:nvPr>
        </p:nvSpPr>
        <p:spPr/>
        <p:txBody>
          <a:bodyPr/>
          <a:lstStyle/>
          <a:p>
            <a:fld id="{B1D008D5-2402-4AFE-9976-41801AF668E5}" type="datetimeFigureOut">
              <a:rPr lang="en-US" smtClean="0"/>
              <a:t>8/4/2020</a:t>
            </a:fld>
            <a:endParaRPr lang="en-US"/>
          </a:p>
        </p:txBody>
      </p:sp>
      <p:sp>
        <p:nvSpPr>
          <p:cNvPr id="8" name="Footer Placeholder 7">
            <a:extLst>
              <a:ext uri="{FF2B5EF4-FFF2-40B4-BE49-F238E27FC236}">
                <a16:creationId xmlns:a16="http://schemas.microsoft.com/office/drawing/2014/main" id="{68C49DA0-4987-4F99-B1B8-BC0D8D110F6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884A9FB-52F1-4187-A368-D9816CC5D5AD}"/>
              </a:ext>
            </a:extLst>
          </p:cNvPr>
          <p:cNvSpPr>
            <a:spLocks noGrp="1"/>
          </p:cNvSpPr>
          <p:nvPr>
            <p:ph type="sldNum" sz="quarter" idx="12"/>
          </p:nvPr>
        </p:nvSpPr>
        <p:spPr/>
        <p:txBody>
          <a:bodyPr/>
          <a:lstStyle/>
          <a:p>
            <a:fld id="{4935BF7F-C269-413B-995C-4079279E4A4C}" type="slidenum">
              <a:rPr lang="en-US" smtClean="0"/>
              <a:t>‹#›</a:t>
            </a:fld>
            <a:endParaRPr lang="en-US"/>
          </a:p>
        </p:txBody>
      </p:sp>
    </p:spTree>
    <p:extLst>
      <p:ext uri="{BB962C8B-B14F-4D97-AF65-F5344CB8AC3E}">
        <p14:creationId xmlns:p14="http://schemas.microsoft.com/office/powerpoint/2010/main" val="28746698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EA9AC-1C3C-429B-92D3-60F8EE02262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548B823-3765-45AA-8C57-26217D43303D}"/>
              </a:ext>
            </a:extLst>
          </p:cNvPr>
          <p:cNvSpPr>
            <a:spLocks noGrp="1"/>
          </p:cNvSpPr>
          <p:nvPr>
            <p:ph type="dt" sz="half" idx="10"/>
          </p:nvPr>
        </p:nvSpPr>
        <p:spPr/>
        <p:txBody>
          <a:bodyPr/>
          <a:lstStyle/>
          <a:p>
            <a:fld id="{B1D008D5-2402-4AFE-9976-41801AF668E5}" type="datetimeFigureOut">
              <a:rPr lang="en-US" smtClean="0"/>
              <a:t>8/4/2020</a:t>
            </a:fld>
            <a:endParaRPr lang="en-US"/>
          </a:p>
        </p:txBody>
      </p:sp>
      <p:sp>
        <p:nvSpPr>
          <p:cNvPr id="4" name="Footer Placeholder 3">
            <a:extLst>
              <a:ext uri="{FF2B5EF4-FFF2-40B4-BE49-F238E27FC236}">
                <a16:creationId xmlns:a16="http://schemas.microsoft.com/office/drawing/2014/main" id="{0D411450-9904-4F69-BBA0-28B45475F4B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DD8D571-01F0-45FA-9C11-6090C9C8BDA3}"/>
              </a:ext>
            </a:extLst>
          </p:cNvPr>
          <p:cNvSpPr>
            <a:spLocks noGrp="1"/>
          </p:cNvSpPr>
          <p:nvPr>
            <p:ph type="sldNum" sz="quarter" idx="12"/>
          </p:nvPr>
        </p:nvSpPr>
        <p:spPr/>
        <p:txBody>
          <a:bodyPr/>
          <a:lstStyle/>
          <a:p>
            <a:fld id="{4935BF7F-C269-413B-995C-4079279E4A4C}" type="slidenum">
              <a:rPr lang="en-US" smtClean="0"/>
              <a:t>‹#›</a:t>
            </a:fld>
            <a:endParaRPr lang="en-US"/>
          </a:p>
        </p:txBody>
      </p:sp>
    </p:spTree>
    <p:extLst>
      <p:ext uri="{BB962C8B-B14F-4D97-AF65-F5344CB8AC3E}">
        <p14:creationId xmlns:p14="http://schemas.microsoft.com/office/powerpoint/2010/main" val="6849000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9C12957-3A15-4D3E-85B3-2574D8E4DFAE}"/>
              </a:ext>
            </a:extLst>
          </p:cNvPr>
          <p:cNvSpPr>
            <a:spLocks noGrp="1"/>
          </p:cNvSpPr>
          <p:nvPr>
            <p:ph type="dt" sz="half" idx="10"/>
          </p:nvPr>
        </p:nvSpPr>
        <p:spPr/>
        <p:txBody>
          <a:bodyPr/>
          <a:lstStyle/>
          <a:p>
            <a:fld id="{B1D008D5-2402-4AFE-9976-41801AF668E5}" type="datetimeFigureOut">
              <a:rPr lang="en-US" smtClean="0"/>
              <a:t>8/4/2020</a:t>
            </a:fld>
            <a:endParaRPr lang="en-US"/>
          </a:p>
        </p:txBody>
      </p:sp>
      <p:sp>
        <p:nvSpPr>
          <p:cNvPr id="3" name="Footer Placeholder 2">
            <a:extLst>
              <a:ext uri="{FF2B5EF4-FFF2-40B4-BE49-F238E27FC236}">
                <a16:creationId xmlns:a16="http://schemas.microsoft.com/office/drawing/2014/main" id="{34A767E7-D627-404A-A0FE-8CF45191FCD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52B71C3-8925-4BD6-A409-F29E681C7241}"/>
              </a:ext>
            </a:extLst>
          </p:cNvPr>
          <p:cNvSpPr>
            <a:spLocks noGrp="1"/>
          </p:cNvSpPr>
          <p:nvPr>
            <p:ph type="sldNum" sz="quarter" idx="12"/>
          </p:nvPr>
        </p:nvSpPr>
        <p:spPr/>
        <p:txBody>
          <a:bodyPr/>
          <a:lstStyle/>
          <a:p>
            <a:fld id="{4935BF7F-C269-413B-995C-4079279E4A4C}" type="slidenum">
              <a:rPr lang="en-US" smtClean="0"/>
              <a:t>‹#›</a:t>
            </a:fld>
            <a:endParaRPr lang="en-US"/>
          </a:p>
        </p:txBody>
      </p:sp>
    </p:spTree>
    <p:extLst>
      <p:ext uri="{BB962C8B-B14F-4D97-AF65-F5344CB8AC3E}">
        <p14:creationId xmlns:p14="http://schemas.microsoft.com/office/powerpoint/2010/main" val="1655892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383F0-CD5F-42AF-B63C-8EDAACE257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07A2679-2414-455B-9027-46CD0E10A4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BFABBD5-2669-4267-B48B-A6FF3A130A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4BBD7A-C1A1-4200-99B6-7277C0C05C33}"/>
              </a:ext>
            </a:extLst>
          </p:cNvPr>
          <p:cNvSpPr>
            <a:spLocks noGrp="1"/>
          </p:cNvSpPr>
          <p:nvPr>
            <p:ph type="dt" sz="half" idx="10"/>
          </p:nvPr>
        </p:nvSpPr>
        <p:spPr/>
        <p:txBody>
          <a:bodyPr/>
          <a:lstStyle/>
          <a:p>
            <a:fld id="{B1D008D5-2402-4AFE-9976-41801AF668E5}" type="datetimeFigureOut">
              <a:rPr lang="en-US" smtClean="0"/>
              <a:t>8/4/2020</a:t>
            </a:fld>
            <a:endParaRPr lang="en-US"/>
          </a:p>
        </p:txBody>
      </p:sp>
      <p:sp>
        <p:nvSpPr>
          <p:cNvPr id="6" name="Footer Placeholder 5">
            <a:extLst>
              <a:ext uri="{FF2B5EF4-FFF2-40B4-BE49-F238E27FC236}">
                <a16:creationId xmlns:a16="http://schemas.microsoft.com/office/drawing/2014/main" id="{3E440679-155E-48C6-8E74-B5F505C76D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FEB259-BCE6-4C54-8D9A-EEB1FB29333A}"/>
              </a:ext>
            </a:extLst>
          </p:cNvPr>
          <p:cNvSpPr>
            <a:spLocks noGrp="1"/>
          </p:cNvSpPr>
          <p:nvPr>
            <p:ph type="sldNum" sz="quarter" idx="12"/>
          </p:nvPr>
        </p:nvSpPr>
        <p:spPr/>
        <p:txBody>
          <a:bodyPr/>
          <a:lstStyle/>
          <a:p>
            <a:fld id="{4935BF7F-C269-413B-995C-4079279E4A4C}" type="slidenum">
              <a:rPr lang="en-US" smtClean="0"/>
              <a:t>‹#›</a:t>
            </a:fld>
            <a:endParaRPr lang="en-US"/>
          </a:p>
        </p:txBody>
      </p:sp>
    </p:spTree>
    <p:extLst>
      <p:ext uri="{BB962C8B-B14F-4D97-AF65-F5344CB8AC3E}">
        <p14:creationId xmlns:p14="http://schemas.microsoft.com/office/powerpoint/2010/main" val="1597830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0399C-7497-4F0E-872C-5B80095C72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08CF559-4327-4725-B2E7-67D4C0A769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9CD16AA-8408-4815-B160-3D8F4F3B4A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C54E8D-FA3D-45AE-97F7-AE64CE773DFC}"/>
              </a:ext>
            </a:extLst>
          </p:cNvPr>
          <p:cNvSpPr>
            <a:spLocks noGrp="1"/>
          </p:cNvSpPr>
          <p:nvPr>
            <p:ph type="dt" sz="half" idx="10"/>
          </p:nvPr>
        </p:nvSpPr>
        <p:spPr/>
        <p:txBody>
          <a:bodyPr/>
          <a:lstStyle/>
          <a:p>
            <a:fld id="{B1D008D5-2402-4AFE-9976-41801AF668E5}" type="datetimeFigureOut">
              <a:rPr lang="en-US" smtClean="0"/>
              <a:t>8/4/2020</a:t>
            </a:fld>
            <a:endParaRPr lang="en-US"/>
          </a:p>
        </p:txBody>
      </p:sp>
      <p:sp>
        <p:nvSpPr>
          <p:cNvPr id="6" name="Footer Placeholder 5">
            <a:extLst>
              <a:ext uri="{FF2B5EF4-FFF2-40B4-BE49-F238E27FC236}">
                <a16:creationId xmlns:a16="http://schemas.microsoft.com/office/drawing/2014/main" id="{F2E1198B-C5A0-48C6-B55B-74BD2F42B7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980A1A-C83F-4A24-8C95-2CFA45829109}"/>
              </a:ext>
            </a:extLst>
          </p:cNvPr>
          <p:cNvSpPr>
            <a:spLocks noGrp="1"/>
          </p:cNvSpPr>
          <p:nvPr>
            <p:ph type="sldNum" sz="quarter" idx="12"/>
          </p:nvPr>
        </p:nvSpPr>
        <p:spPr/>
        <p:txBody>
          <a:bodyPr/>
          <a:lstStyle/>
          <a:p>
            <a:fld id="{4935BF7F-C269-413B-995C-4079279E4A4C}" type="slidenum">
              <a:rPr lang="en-US" smtClean="0"/>
              <a:t>‹#›</a:t>
            </a:fld>
            <a:endParaRPr lang="en-US"/>
          </a:p>
        </p:txBody>
      </p:sp>
    </p:spTree>
    <p:extLst>
      <p:ext uri="{BB962C8B-B14F-4D97-AF65-F5344CB8AC3E}">
        <p14:creationId xmlns:p14="http://schemas.microsoft.com/office/powerpoint/2010/main" val="1599548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704DF-4488-4B46-BEB6-4F14EB4A5EC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2FCEF6A-DDD0-46A3-A5D3-97979304396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CBFAE1-A9D9-4B43-978F-33B52A652014}"/>
              </a:ext>
            </a:extLst>
          </p:cNvPr>
          <p:cNvSpPr>
            <a:spLocks noGrp="1"/>
          </p:cNvSpPr>
          <p:nvPr>
            <p:ph type="dt" sz="half" idx="10"/>
          </p:nvPr>
        </p:nvSpPr>
        <p:spPr/>
        <p:txBody>
          <a:bodyPr/>
          <a:lstStyle/>
          <a:p>
            <a:fld id="{B1D008D5-2402-4AFE-9976-41801AF668E5}" type="datetimeFigureOut">
              <a:rPr lang="en-US" smtClean="0"/>
              <a:t>8/4/2020</a:t>
            </a:fld>
            <a:endParaRPr lang="en-US"/>
          </a:p>
        </p:txBody>
      </p:sp>
      <p:sp>
        <p:nvSpPr>
          <p:cNvPr id="5" name="Footer Placeholder 4">
            <a:extLst>
              <a:ext uri="{FF2B5EF4-FFF2-40B4-BE49-F238E27FC236}">
                <a16:creationId xmlns:a16="http://schemas.microsoft.com/office/drawing/2014/main" id="{2AF03E3B-1D9D-4777-AE94-48C7C0A42D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29C5FA-54AE-4F85-B0F2-688802F1BA14}"/>
              </a:ext>
            </a:extLst>
          </p:cNvPr>
          <p:cNvSpPr>
            <a:spLocks noGrp="1"/>
          </p:cNvSpPr>
          <p:nvPr>
            <p:ph type="sldNum" sz="quarter" idx="12"/>
          </p:nvPr>
        </p:nvSpPr>
        <p:spPr/>
        <p:txBody>
          <a:bodyPr/>
          <a:lstStyle/>
          <a:p>
            <a:fld id="{4935BF7F-C269-413B-995C-4079279E4A4C}" type="slidenum">
              <a:rPr lang="en-US" smtClean="0"/>
              <a:t>‹#›</a:t>
            </a:fld>
            <a:endParaRPr lang="en-US"/>
          </a:p>
        </p:txBody>
      </p:sp>
    </p:spTree>
    <p:extLst>
      <p:ext uri="{BB962C8B-B14F-4D97-AF65-F5344CB8AC3E}">
        <p14:creationId xmlns:p14="http://schemas.microsoft.com/office/powerpoint/2010/main" val="3658617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39114D-FCAF-44CA-895E-F84CB8BBD0E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910D519-09ED-4A5B-8615-3E7A22F4C2E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B96829-2DCB-4E22-95BC-33741D9463A8}"/>
              </a:ext>
            </a:extLst>
          </p:cNvPr>
          <p:cNvSpPr>
            <a:spLocks noGrp="1"/>
          </p:cNvSpPr>
          <p:nvPr>
            <p:ph type="dt" sz="half" idx="10"/>
          </p:nvPr>
        </p:nvSpPr>
        <p:spPr/>
        <p:txBody>
          <a:bodyPr/>
          <a:lstStyle/>
          <a:p>
            <a:fld id="{B1D008D5-2402-4AFE-9976-41801AF668E5}" type="datetimeFigureOut">
              <a:rPr lang="en-US" smtClean="0"/>
              <a:t>8/4/2020</a:t>
            </a:fld>
            <a:endParaRPr lang="en-US"/>
          </a:p>
        </p:txBody>
      </p:sp>
      <p:sp>
        <p:nvSpPr>
          <p:cNvPr id="5" name="Footer Placeholder 4">
            <a:extLst>
              <a:ext uri="{FF2B5EF4-FFF2-40B4-BE49-F238E27FC236}">
                <a16:creationId xmlns:a16="http://schemas.microsoft.com/office/drawing/2014/main" id="{44E97D38-80B0-40F4-9AA4-B3CA7D1AF7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A47F51-94B1-4CB8-95E2-9C1662D31ADF}"/>
              </a:ext>
            </a:extLst>
          </p:cNvPr>
          <p:cNvSpPr>
            <a:spLocks noGrp="1"/>
          </p:cNvSpPr>
          <p:nvPr>
            <p:ph type="sldNum" sz="quarter" idx="12"/>
          </p:nvPr>
        </p:nvSpPr>
        <p:spPr/>
        <p:txBody>
          <a:bodyPr/>
          <a:lstStyle/>
          <a:p>
            <a:fld id="{4935BF7F-C269-413B-995C-4079279E4A4C}" type="slidenum">
              <a:rPr lang="en-US" smtClean="0"/>
              <a:t>‹#›</a:t>
            </a:fld>
            <a:endParaRPr lang="en-US"/>
          </a:p>
        </p:txBody>
      </p:sp>
    </p:spTree>
    <p:extLst>
      <p:ext uri="{BB962C8B-B14F-4D97-AF65-F5344CB8AC3E}">
        <p14:creationId xmlns:p14="http://schemas.microsoft.com/office/powerpoint/2010/main" val="2790751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CF0691-E2E2-4607-B029-474741230B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589239F-2968-4C17-99B0-EB04D614CF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21E76C-C8F7-4296-AC79-0D4AAECB94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D008D5-2402-4AFE-9976-41801AF668E5}" type="datetimeFigureOut">
              <a:rPr lang="en-US" smtClean="0"/>
              <a:t>8/4/2020</a:t>
            </a:fld>
            <a:endParaRPr lang="en-US"/>
          </a:p>
        </p:txBody>
      </p:sp>
      <p:sp>
        <p:nvSpPr>
          <p:cNvPr id="5" name="Footer Placeholder 4">
            <a:extLst>
              <a:ext uri="{FF2B5EF4-FFF2-40B4-BE49-F238E27FC236}">
                <a16:creationId xmlns:a16="http://schemas.microsoft.com/office/drawing/2014/main" id="{A14DD310-B8E4-47E3-AACA-F978C66862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E6D8827-5B44-415C-900E-6D0C359D18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35BF7F-C269-413B-995C-4079279E4A4C}" type="slidenum">
              <a:rPr lang="en-US" smtClean="0"/>
              <a:t>‹#›</a:t>
            </a:fld>
            <a:endParaRPr lang="en-US"/>
          </a:p>
        </p:txBody>
      </p:sp>
    </p:spTree>
    <p:extLst>
      <p:ext uri="{BB962C8B-B14F-4D97-AF65-F5344CB8AC3E}">
        <p14:creationId xmlns:p14="http://schemas.microsoft.com/office/powerpoint/2010/main" val="18918712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3.gif"/><Relationship Id="rId1" Type="http://schemas.openxmlformats.org/officeDocument/2006/relationships/slideLayout" Target="../slideLayouts/slideLayout1.xml"/><Relationship Id="rId4" Type="http://schemas.openxmlformats.org/officeDocument/2006/relationships/image" Target="../media/image5.gif"/></Relationships>
</file>

<file path=ppt/slides/_rels/slide4.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ED1FE-EF3C-4D19-8DBF-9B71A41DB530}"/>
              </a:ext>
            </a:extLst>
          </p:cNvPr>
          <p:cNvSpPr>
            <a:spLocks noGrp="1"/>
          </p:cNvSpPr>
          <p:nvPr>
            <p:ph type="ctrTitle"/>
          </p:nvPr>
        </p:nvSpPr>
        <p:spPr>
          <a:xfrm>
            <a:off x="1524000" y="231914"/>
            <a:ext cx="9144000" cy="6023111"/>
          </a:xfrm>
        </p:spPr>
        <p:txBody>
          <a:bodyPr>
            <a:noAutofit/>
          </a:bodyPr>
          <a:lstStyle/>
          <a:p>
            <a:pPr algn="l"/>
            <a:r>
              <a:rPr lang="en-US" sz="4000" b="1" u="sng" dirty="0"/>
              <a:t>Bipolar Transistor</a:t>
            </a:r>
            <a:br>
              <a:rPr lang="en-US" sz="2000" dirty="0"/>
            </a:br>
            <a:r>
              <a:rPr lang="en-US" sz="2000" dirty="0"/>
              <a:t> </a:t>
            </a:r>
            <a:br>
              <a:rPr lang="en-US" sz="2000" dirty="0"/>
            </a:br>
            <a:r>
              <a:rPr lang="en-US" sz="2000" dirty="0"/>
              <a:t>The Bipolar Junction Transistor is a semiconductor device which can be used for switching or amplification.</a:t>
            </a:r>
            <a:br>
              <a:rPr lang="en-US" sz="2000" dirty="0"/>
            </a:br>
            <a:r>
              <a:rPr lang="en-US" sz="2000" dirty="0"/>
              <a:t> </a:t>
            </a:r>
            <a:br>
              <a:rPr lang="en-US" sz="2000" dirty="0"/>
            </a:br>
            <a:r>
              <a:rPr lang="en-US" sz="2000" dirty="0"/>
              <a:t>In the diode tutorials we saw that simple diodes are made up from two pieces of semiconductor material to form a simple </a:t>
            </a:r>
            <a:r>
              <a:rPr lang="en-US" sz="2000" dirty="0" err="1"/>
              <a:t>pn</a:t>
            </a:r>
            <a:r>
              <a:rPr lang="en-US" sz="2000" dirty="0"/>
              <a:t>-junction and we also learnt about their properties and characteristics.</a:t>
            </a:r>
            <a:br>
              <a:rPr lang="en-US" sz="2000" dirty="0"/>
            </a:br>
            <a:r>
              <a:rPr lang="en-US" sz="2000" dirty="0"/>
              <a:t> </a:t>
            </a:r>
            <a:br>
              <a:rPr lang="en-US" sz="2000" dirty="0"/>
            </a:br>
            <a:r>
              <a:rPr lang="en-US" sz="2000" dirty="0"/>
              <a:t>If we now join together two individual signal diodes back-to-back, this will give us two PN-junctions connected together in series that share a common </a:t>
            </a:r>
            <a:r>
              <a:rPr lang="en-US" sz="2000" b="1" dirty="0"/>
              <a:t>P</a:t>
            </a:r>
            <a:r>
              <a:rPr lang="en-US" sz="2000" dirty="0"/>
              <a:t> or </a:t>
            </a:r>
            <a:r>
              <a:rPr lang="en-US" sz="2000" b="1" dirty="0"/>
              <a:t>N</a:t>
            </a:r>
            <a:r>
              <a:rPr lang="en-US" sz="2000" dirty="0"/>
              <a:t> terminal. The fusion of these two diodes produces a three layer, two junction, three terminal device forming the basis of a </a:t>
            </a:r>
            <a:r>
              <a:rPr lang="en-US" sz="2000" b="1" dirty="0"/>
              <a:t>Bipolar Junction Transistor</a:t>
            </a:r>
            <a:r>
              <a:rPr lang="en-US" sz="2000" dirty="0"/>
              <a:t>, or </a:t>
            </a:r>
            <a:r>
              <a:rPr lang="en-US" sz="2000" b="1" dirty="0"/>
              <a:t>BJT</a:t>
            </a:r>
            <a:r>
              <a:rPr lang="en-US" sz="2000" dirty="0"/>
              <a:t> for short.</a:t>
            </a: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endParaRPr lang="en-US" sz="2000" dirty="0"/>
          </a:p>
        </p:txBody>
      </p:sp>
      <p:sp>
        <p:nvSpPr>
          <p:cNvPr id="3" name="Subtitle 2">
            <a:extLst>
              <a:ext uri="{FF2B5EF4-FFF2-40B4-BE49-F238E27FC236}">
                <a16:creationId xmlns:a16="http://schemas.microsoft.com/office/drawing/2014/main" id="{4EA84723-5534-4B1E-8D01-EE1BF4D2679F}"/>
              </a:ext>
            </a:extLst>
          </p:cNvPr>
          <p:cNvSpPr>
            <a:spLocks noGrp="1"/>
          </p:cNvSpPr>
          <p:nvPr>
            <p:ph type="subTitle" idx="1"/>
          </p:nvPr>
        </p:nvSpPr>
        <p:spPr>
          <a:xfrm flipV="1">
            <a:off x="1524000" y="6440556"/>
            <a:ext cx="9144000" cy="185530"/>
          </a:xfrm>
        </p:spPr>
        <p:txBody>
          <a:bodyPr>
            <a:normAutofit fontScale="32500" lnSpcReduction="20000"/>
          </a:bodyPr>
          <a:lstStyle/>
          <a:p>
            <a:endParaRPr lang="en-US" dirty="0"/>
          </a:p>
        </p:txBody>
      </p:sp>
      <p:pic>
        <p:nvPicPr>
          <p:cNvPr id="5" name="Picture 4">
            <a:extLst>
              <a:ext uri="{FF2B5EF4-FFF2-40B4-BE49-F238E27FC236}">
                <a16:creationId xmlns:a16="http://schemas.microsoft.com/office/drawing/2014/main" id="{AFA64DB6-C504-4CF1-94B1-C52A7832E6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07739" y="4253947"/>
            <a:ext cx="1746070" cy="2093843"/>
          </a:xfrm>
          <a:prstGeom prst="rect">
            <a:avLst/>
          </a:prstGeom>
        </p:spPr>
      </p:pic>
    </p:spTree>
    <p:extLst>
      <p:ext uri="{BB962C8B-B14F-4D97-AF65-F5344CB8AC3E}">
        <p14:creationId xmlns:p14="http://schemas.microsoft.com/office/powerpoint/2010/main" val="11015932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0013E-7A0C-4609-BF8D-66F64481F04A}"/>
              </a:ext>
            </a:extLst>
          </p:cNvPr>
          <p:cNvSpPr>
            <a:spLocks noGrp="1"/>
          </p:cNvSpPr>
          <p:nvPr>
            <p:ph type="ctrTitle"/>
          </p:nvPr>
        </p:nvSpPr>
        <p:spPr>
          <a:xfrm>
            <a:off x="1524000" y="172278"/>
            <a:ext cx="9144000" cy="6506817"/>
          </a:xfrm>
        </p:spPr>
        <p:txBody>
          <a:bodyPr>
            <a:noAutofit/>
          </a:bodyPr>
          <a:lstStyle/>
          <a:p>
            <a:pPr algn="l"/>
            <a:r>
              <a:rPr lang="en-US" sz="2000" dirty="0"/>
              <a:t>Transistors are three terminal active devices made from different semiconductor materials that can act as either an insulator or a conductor by the application of a small signal voltage. The transistor’s ability to change between these two states enables it to have two basic functions: “switching” (digital electronics) or “amplification” (analogue electronics). Then bipolar transistors have the ability to operate within three different regions:</a:t>
            </a:r>
            <a:br>
              <a:rPr lang="en-US" sz="2000" dirty="0"/>
            </a:br>
            <a:r>
              <a:rPr lang="en-US" sz="2000" dirty="0"/>
              <a:t>Active Region   –   the transistor operates as an amplifier and </a:t>
            </a:r>
            <a:r>
              <a:rPr lang="en-US" sz="2000" dirty="0" err="1"/>
              <a:t>Ic</a:t>
            </a:r>
            <a:r>
              <a:rPr lang="en-US" sz="2000" dirty="0"/>
              <a:t> = β*</a:t>
            </a:r>
            <a:r>
              <a:rPr lang="en-US" sz="2000" dirty="0" err="1"/>
              <a:t>Ib</a:t>
            </a:r>
            <a:br>
              <a:rPr lang="en-US" sz="2000" dirty="0"/>
            </a:br>
            <a:r>
              <a:rPr lang="en-US" sz="2000" dirty="0"/>
              <a:t>Saturation   –   the transistor is “Fully-ON” operating as a switch and </a:t>
            </a:r>
            <a:r>
              <a:rPr lang="en-US" sz="2000" dirty="0" err="1"/>
              <a:t>Ic</a:t>
            </a:r>
            <a:r>
              <a:rPr lang="en-US" sz="2000" dirty="0"/>
              <a:t> = I(saturation)</a:t>
            </a:r>
            <a:br>
              <a:rPr lang="en-US" sz="2000" dirty="0"/>
            </a:br>
            <a:r>
              <a:rPr lang="en-US" sz="2000" dirty="0"/>
              <a:t>Cut-off   –   the transistor is “Fully-OFF” operating as a switch and </a:t>
            </a:r>
            <a:r>
              <a:rPr lang="en-US" sz="2000" dirty="0" err="1"/>
              <a:t>Ic</a:t>
            </a:r>
            <a:r>
              <a:rPr lang="en-US" sz="2000" dirty="0"/>
              <a:t> = 0</a:t>
            </a: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r>
              <a:rPr lang="en-US" sz="2000" dirty="0"/>
              <a:t> </a:t>
            </a:r>
            <a:br>
              <a:rPr lang="en-US" sz="2000" dirty="0"/>
            </a:br>
            <a:endParaRPr lang="en-US" sz="2000" dirty="0"/>
          </a:p>
        </p:txBody>
      </p:sp>
      <p:sp>
        <p:nvSpPr>
          <p:cNvPr id="3" name="Subtitle 2">
            <a:extLst>
              <a:ext uri="{FF2B5EF4-FFF2-40B4-BE49-F238E27FC236}">
                <a16:creationId xmlns:a16="http://schemas.microsoft.com/office/drawing/2014/main" id="{3BE85BC9-B241-4FA9-A7D7-A69288924539}"/>
              </a:ext>
            </a:extLst>
          </p:cNvPr>
          <p:cNvSpPr>
            <a:spLocks noGrp="1"/>
          </p:cNvSpPr>
          <p:nvPr>
            <p:ph type="subTitle" idx="1"/>
          </p:nvPr>
        </p:nvSpPr>
        <p:spPr>
          <a:xfrm flipV="1">
            <a:off x="1524000" y="6679095"/>
            <a:ext cx="9144000" cy="178903"/>
          </a:xfrm>
        </p:spPr>
        <p:txBody>
          <a:bodyPr>
            <a:normAutofit fontScale="25000" lnSpcReduction="20000"/>
          </a:bodyPr>
          <a:lstStyle/>
          <a:p>
            <a:endParaRPr lang="en-US" dirty="0"/>
          </a:p>
        </p:txBody>
      </p:sp>
      <p:pic>
        <p:nvPicPr>
          <p:cNvPr id="4" name="Picture 3" descr="bipolar transistor construction">
            <a:extLst>
              <a:ext uri="{FF2B5EF4-FFF2-40B4-BE49-F238E27FC236}">
                <a16:creationId xmlns:a16="http://schemas.microsoft.com/office/drawing/2014/main" id="{5F00FC96-EB78-4164-BE97-B108B931EA62}"/>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515553" y="2835964"/>
            <a:ext cx="4895850" cy="3843129"/>
          </a:xfrm>
          <a:prstGeom prst="rect">
            <a:avLst/>
          </a:prstGeom>
          <a:noFill/>
          <a:ln>
            <a:noFill/>
          </a:ln>
        </p:spPr>
      </p:pic>
    </p:spTree>
    <p:extLst>
      <p:ext uri="{BB962C8B-B14F-4D97-AF65-F5344CB8AC3E}">
        <p14:creationId xmlns:p14="http://schemas.microsoft.com/office/powerpoint/2010/main" val="29749272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66A96-D056-4748-8FFF-FEB3BA30FDB0}"/>
              </a:ext>
            </a:extLst>
          </p:cNvPr>
          <p:cNvSpPr>
            <a:spLocks noGrp="1"/>
          </p:cNvSpPr>
          <p:nvPr>
            <p:ph type="ctrTitle"/>
          </p:nvPr>
        </p:nvSpPr>
        <p:spPr>
          <a:xfrm>
            <a:off x="1113183" y="141701"/>
            <a:ext cx="9965634" cy="6537394"/>
          </a:xfrm>
        </p:spPr>
        <p:txBody>
          <a:bodyPr>
            <a:noAutofit/>
          </a:bodyPr>
          <a:lstStyle/>
          <a:p>
            <a:pPr algn="l"/>
            <a:r>
              <a:rPr lang="en-US" sz="2800" b="1" u="sng" dirty="0"/>
              <a:t>Bipolar Transistor Configurations</a:t>
            </a:r>
            <a:br>
              <a:rPr lang="en-US" sz="2000" b="1" dirty="0"/>
            </a:br>
            <a:r>
              <a:rPr lang="en-US" sz="2000" dirty="0"/>
              <a:t>As the </a:t>
            </a:r>
            <a:r>
              <a:rPr lang="en-US" sz="2000" b="1" dirty="0"/>
              <a:t>Bipolar Transistor</a:t>
            </a:r>
            <a:r>
              <a:rPr lang="en-US" sz="2000" dirty="0"/>
              <a:t> is a three terminal device, there are basically three possible ways to connect it within an electronic circuit with one terminal being common to both the input and output. Each method of connection responding differently to its input signal within a circuit as the static characteristics of the transistor vary with each circuit arrangement.</a:t>
            </a:r>
            <a:br>
              <a:rPr lang="en-US" sz="2000" dirty="0"/>
            </a:br>
            <a:r>
              <a:rPr lang="en-US" sz="2000" dirty="0"/>
              <a:t>Common Base Configuration   –   has Voltage Gain but no Current Gain.</a:t>
            </a:r>
            <a:br>
              <a:rPr lang="en-US" sz="2000" dirty="0"/>
            </a:br>
            <a:r>
              <a:rPr lang="en-US" sz="2000" dirty="0"/>
              <a:t>Common Emitter Configuration   –   has both Current and Voltage Gain.</a:t>
            </a:r>
            <a:br>
              <a:rPr lang="en-US" sz="2000" dirty="0"/>
            </a:br>
            <a:r>
              <a:rPr lang="en-US" sz="2000" dirty="0"/>
              <a:t>Common Collector Configuration   –   has Current Gain but no Voltage Gain.</a:t>
            </a:r>
            <a:br>
              <a:rPr lang="en-US" sz="2000" dirty="0"/>
            </a:br>
            <a:br>
              <a:rPr lang="en-US" sz="2000" dirty="0"/>
            </a:br>
            <a:r>
              <a:rPr lang="en-US" sz="2000" dirty="0"/>
              <a:t>				      </a:t>
            </a:r>
            <a:r>
              <a:rPr lang="en-US" sz="2000" b="1" u="sng" dirty="0"/>
              <a:t>Common Base </a:t>
            </a:r>
            <a:br>
              <a:rPr lang="en-US" sz="2000" dirty="0"/>
            </a:br>
            <a:br>
              <a:rPr lang="en-US" sz="2000" dirty="0"/>
            </a:br>
            <a:br>
              <a:rPr lang="en-US" sz="2000" dirty="0"/>
            </a:br>
            <a:br>
              <a:rPr lang="en-US" sz="2000" dirty="0"/>
            </a:br>
            <a:br>
              <a:rPr lang="en-US" sz="2000" dirty="0"/>
            </a:br>
            <a:br>
              <a:rPr lang="en-US" sz="2000" dirty="0"/>
            </a:br>
            <a:r>
              <a:rPr lang="en-US" sz="2000" dirty="0"/>
              <a:t>          </a:t>
            </a:r>
            <a:r>
              <a:rPr lang="en-US" sz="2000" b="1" u="sng" dirty="0"/>
              <a:t>Common Emitter</a:t>
            </a:r>
            <a:r>
              <a:rPr lang="en-US" sz="2000" b="1" dirty="0"/>
              <a:t>                                                                      </a:t>
            </a:r>
            <a:r>
              <a:rPr lang="en-US" sz="2000" b="1" u="sng" dirty="0"/>
              <a:t>Common Collector</a:t>
            </a:r>
            <a:br>
              <a:rPr lang="en-US" sz="2000" dirty="0"/>
            </a:br>
            <a:br>
              <a:rPr lang="en-US" sz="2000" dirty="0"/>
            </a:br>
            <a:br>
              <a:rPr lang="en-US" sz="2000" dirty="0"/>
            </a:br>
            <a:br>
              <a:rPr lang="en-US" sz="2000" dirty="0"/>
            </a:br>
            <a:br>
              <a:rPr lang="en-US" sz="2000" dirty="0"/>
            </a:br>
            <a:br>
              <a:rPr lang="en-US" sz="2000" dirty="0"/>
            </a:br>
            <a:br>
              <a:rPr lang="en-US" sz="2000" dirty="0"/>
            </a:br>
            <a:endParaRPr lang="en-US" sz="2000" dirty="0"/>
          </a:p>
        </p:txBody>
      </p:sp>
      <p:sp>
        <p:nvSpPr>
          <p:cNvPr id="3" name="Subtitle 2">
            <a:extLst>
              <a:ext uri="{FF2B5EF4-FFF2-40B4-BE49-F238E27FC236}">
                <a16:creationId xmlns:a16="http://schemas.microsoft.com/office/drawing/2014/main" id="{DDFFB798-8357-4A2B-8F60-CCA08F4D97FE}"/>
              </a:ext>
            </a:extLst>
          </p:cNvPr>
          <p:cNvSpPr>
            <a:spLocks noGrp="1"/>
          </p:cNvSpPr>
          <p:nvPr>
            <p:ph type="subTitle" idx="1"/>
          </p:nvPr>
        </p:nvSpPr>
        <p:spPr>
          <a:xfrm>
            <a:off x="1683026" y="6679095"/>
            <a:ext cx="9144000" cy="162339"/>
          </a:xfrm>
        </p:spPr>
        <p:txBody>
          <a:bodyPr>
            <a:normAutofit fontScale="25000" lnSpcReduction="20000"/>
          </a:bodyPr>
          <a:lstStyle/>
          <a:p>
            <a:endParaRPr lang="en-US"/>
          </a:p>
        </p:txBody>
      </p:sp>
      <p:pic>
        <p:nvPicPr>
          <p:cNvPr id="4" name="Picture 3" descr="common base configuration">
            <a:extLst>
              <a:ext uri="{FF2B5EF4-FFF2-40B4-BE49-F238E27FC236}">
                <a16:creationId xmlns:a16="http://schemas.microsoft.com/office/drawing/2014/main" id="{B0E9C819-1903-462C-8BF8-079D3FB970F3}"/>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502178" y="3197707"/>
            <a:ext cx="3133725" cy="1283391"/>
          </a:xfrm>
          <a:prstGeom prst="rect">
            <a:avLst/>
          </a:prstGeom>
          <a:noFill/>
          <a:ln>
            <a:noFill/>
          </a:ln>
        </p:spPr>
      </p:pic>
      <p:pic>
        <p:nvPicPr>
          <p:cNvPr id="5" name="Picture 4" descr="common emitter configuration">
            <a:extLst>
              <a:ext uri="{FF2B5EF4-FFF2-40B4-BE49-F238E27FC236}">
                <a16:creationId xmlns:a16="http://schemas.microsoft.com/office/drawing/2014/main" id="{73BE31BA-20C4-4AAB-9324-913506BC4221}"/>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113183" y="4643437"/>
            <a:ext cx="3419475" cy="1838325"/>
          </a:xfrm>
          <a:prstGeom prst="rect">
            <a:avLst/>
          </a:prstGeom>
          <a:noFill/>
          <a:ln>
            <a:noFill/>
          </a:ln>
        </p:spPr>
      </p:pic>
      <p:pic>
        <p:nvPicPr>
          <p:cNvPr id="6" name="Picture 5" descr="common collector configuration">
            <a:extLst>
              <a:ext uri="{FF2B5EF4-FFF2-40B4-BE49-F238E27FC236}">
                <a16:creationId xmlns:a16="http://schemas.microsoft.com/office/drawing/2014/main" id="{2FAD40FE-B176-423C-8227-351175478EE6}"/>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6944975" y="4752975"/>
            <a:ext cx="3400425" cy="2105025"/>
          </a:xfrm>
          <a:prstGeom prst="rect">
            <a:avLst/>
          </a:prstGeom>
          <a:noFill/>
          <a:ln>
            <a:noFill/>
          </a:ln>
        </p:spPr>
      </p:pic>
    </p:spTree>
    <p:extLst>
      <p:ext uri="{BB962C8B-B14F-4D97-AF65-F5344CB8AC3E}">
        <p14:creationId xmlns:p14="http://schemas.microsoft.com/office/powerpoint/2010/main" val="2589562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D4BA2-2896-4C1A-8778-6DEB3CD358D3}"/>
              </a:ext>
            </a:extLst>
          </p:cNvPr>
          <p:cNvSpPr>
            <a:spLocks noGrp="1"/>
          </p:cNvSpPr>
          <p:nvPr>
            <p:ph type="ctrTitle"/>
          </p:nvPr>
        </p:nvSpPr>
        <p:spPr>
          <a:xfrm>
            <a:off x="1524000" y="265044"/>
            <a:ext cx="9144000" cy="5950226"/>
          </a:xfrm>
        </p:spPr>
        <p:txBody>
          <a:bodyPr>
            <a:normAutofit/>
          </a:bodyPr>
          <a:lstStyle/>
          <a:p>
            <a:pPr algn="l"/>
            <a:r>
              <a:rPr lang="en-US" sz="2400" b="1" u="sng" dirty="0"/>
              <a:t>Bipolar Transistor Configurations</a:t>
            </a:r>
            <a:br>
              <a:rPr lang="en-US" sz="2000" b="1" dirty="0"/>
            </a:br>
            <a:br>
              <a:rPr lang="en-US" sz="2000" b="1" dirty="0"/>
            </a:br>
            <a:br>
              <a:rPr lang="en-US" sz="2000" b="1" dirty="0"/>
            </a:br>
            <a:br>
              <a:rPr lang="en-US" sz="2000" b="1" dirty="0"/>
            </a:br>
            <a:br>
              <a:rPr lang="en-US" sz="2000" b="1" dirty="0"/>
            </a:br>
            <a:br>
              <a:rPr lang="en-US" sz="2000" b="1" dirty="0"/>
            </a:br>
            <a:br>
              <a:rPr lang="en-US" sz="2000" b="1" dirty="0"/>
            </a:br>
            <a:br>
              <a:rPr lang="en-US" sz="2000" b="1" dirty="0"/>
            </a:br>
            <a:br>
              <a:rPr lang="en-US" sz="2000" b="1" dirty="0"/>
            </a:br>
            <a:br>
              <a:rPr lang="en-US" sz="2000" b="1" dirty="0"/>
            </a:br>
            <a:br>
              <a:rPr lang="en-US" sz="2000" b="1" dirty="0"/>
            </a:br>
            <a:br>
              <a:rPr lang="en-US" sz="2000" b="1" dirty="0"/>
            </a:br>
            <a:br>
              <a:rPr lang="en-US" sz="2000" b="1" dirty="0"/>
            </a:br>
            <a:br>
              <a:rPr lang="en-US" sz="2000" b="1" dirty="0"/>
            </a:br>
            <a:br>
              <a:rPr lang="en-US" sz="2000" b="1" dirty="0"/>
            </a:br>
            <a:br>
              <a:rPr lang="en-US" sz="2000" b="1" dirty="0"/>
            </a:br>
            <a:br>
              <a:rPr lang="en-US" sz="2000" b="1" dirty="0"/>
            </a:br>
            <a:br>
              <a:rPr lang="en-US" sz="2000" b="1" dirty="0"/>
            </a:br>
            <a:br>
              <a:rPr lang="en-US" sz="2000" b="1" dirty="0"/>
            </a:br>
            <a:br>
              <a:rPr lang="en-US" sz="2000" b="1" dirty="0"/>
            </a:br>
            <a:endParaRPr lang="en-US" sz="2000" dirty="0"/>
          </a:p>
        </p:txBody>
      </p:sp>
      <p:sp>
        <p:nvSpPr>
          <p:cNvPr id="3" name="Subtitle 2">
            <a:extLst>
              <a:ext uri="{FF2B5EF4-FFF2-40B4-BE49-F238E27FC236}">
                <a16:creationId xmlns:a16="http://schemas.microsoft.com/office/drawing/2014/main" id="{65C4695B-760C-441C-9667-1F1DC1E1797B}"/>
              </a:ext>
            </a:extLst>
          </p:cNvPr>
          <p:cNvSpPr>
            <a:spLocks noGrp="1"/>
          </p:cNvSpPr>
          <p:nvPr>
            <p:ph type="subTitle" idx="1"/>
          </p:nvPr>
        </p:nvSpPr>
        <p:spPr>
          <a:xfrm>
            <a:off x="1524000" y="6652590"/>
            <a:ext cx="9144000" cy="205409"/>
          </a:xfrm>
        </p:spPr>
        <p:txBody>
          <a:bodyPr>
            <a:noAutofit/>
          </a:bodyPr>
          <a:lstStyle/>
          <a:p>
            <a:pPr algn="l"/>
            <a:endParaRPr lang="en-US" sz="2000" dirty="0"/>
          </a:p>
        </p:txBody>
      </p:sp>
      <p:pic>
        <p:nvPicPr>
          <p:cNvPr id="4" name="Picture 3" descr="bipolar transistor configurations">
            <a:extLst>
              <a:ext uri="{FF2B5EF4-FFF2-40B4-BE49-F238E27FC236}">
                <a16:creationId xmlns:a16="http://schemas.microsoft.com/office/drawing/2014/main" id="{4405C57A-B473-4AE1-BD77-1EFB64A467AF}"/>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048000" y="914400"/>
            <a:ext cx="5075583" cy="1683028"/>
          </a:xfrm>
          <a:prstGeom prst="rect">
            <a:avLst/>
          </a:prstGeom>
          <a:noFill/>
          <a:ln>
            <a:noFill/>
          </a:ln>
        </p:spPr>
      </p:pic>
      <p:graphicFrame>
        <p:nvGraphicFramePr>
          <p:cNvPr id="5" name="Table 4">
            <a:extLst>
              <a:ext uri="{FF2B5EF4-FFF2-40B4-BE49-F238E27FC236}">
                <a16:creationId xmlns:a16="http://schemas.microsoft.com/office/drawing/2014/main" id="{32AB1350-D602-44D4-B249-BAD8B0175F6C}"/>
              </a:ext>
            </a:extLst>
          </p:cNvPr>
          <p:cNvGraphicFramePr>
            <a:graphicFrameLocks noGrp="1"/>
          </p:cNvGraphicFramePr>
          <p:nvPr>
            <p:extLst>
              <p:ext uri="{D42A27DB-BD31-4B8C-83A1-F6EECF244321}">
                <p14:modId xmlns:p14="http://schemas.microsoft.com/office/powerpoint/2010/main" val="3765893194"/>
              </p:ext>
            </p:extLst>
          </p:nvPr>
        </p:nvGraphicFramePr>
        <p:xfrm>
          <a:off x="2729948" y="3034748"/>
          <a:ext cx="6573079" cy="3087757"/>
        </p:xfrm>
        <a:graphic>
          <a:graphicData uri="http://schemas.openxmlformats.org/drawingml/2006/table">
            <a:tbl>
              <a:tblPr firstRow="1" firstCol="1" bandRow="1">
                <a:tableStyleId>{5C22544A-7EE6-4342-B048-85BDC9FD1C3A}</a:tableStyleId>
              </a:tblPr>
              <a:tblGrid>
                <a:gridCol w="1912168">
                  <a:extLst>
                    <a:ext uri="{9D8B030D-6E8A-4147-A177-3AD203B41FA5}">
                      <a16:colId xmlns:a16="http://schemas.microsoft.com/office/drawing/2014/main" val="4116363410"/>
                    </a:ext>
                  </a:extLst>
                </a:gridCol>
                <a:gridCol w="1553637">
                  <a:extLst>
                    <a:ext uri="{9D8B030D-6E8A-4147-A177-3AD203B41FA5}">
                      <a16:colId xmlns:a16="http://schemas.microsoft.com/office/drawing/2014/main" val="1671952583"/>
                    </a:ext>
                  </a:extLst>
                </a:gridCol>
                <a:gridCol w="1553637">
                  <a:extLst>
                    <a:ext uri="{9D8B030D-6E8A-4147-A177-3AD203B41FA5}">
                      <a16:colId xmlns:a16="http://schemas.microsoft.com/office/drawing/2014/main" val="802967730"/>
                    </a:ext>
                  </a:extLst>
                </a:gridCol>
                <a:gridCol w="1553637">
                  <a:extLst>
                    <a:ext uri="{9D8B030D-6E8A-4147-A177-3AD203B41FA5}">
                      <a16:colId xmlns:a16="http://schemas.microsoft.com/office/drawing/2014/main" val="857705435"/>
                    </a:ext>
                  </a:extLst>
                </a:gridCol>
              </a:tblGrid>
              <a:tr h="619695">
                <a:tc>
                  <a:txBody>
                    <a:bodyPr/>
                    <a:lstStyle/>
                    <a:p>
                      <a:pPr marL="0" marR="0" algn="ctr">
                        <a:lnSpc>
                          <a:spcPct val="115000"/>
                        </a:lnSpc>
                        <a:spcBef>
                          <a:spcPts val="1500"/>
                        </a:spcBef>
                        <a:spcAft>
                          <a:spcPts val="0"/>
                        </a:spcAft>
                      </a:pPr>
                      <a:r>
                        <a:rPr lang="en-US" sz="1050">
                          <a:effectLst/>
                        </a:rPr>
                        <a:t>Characteristic</a:t>
                      </a:r>
                      <a:endParaRPr lang="en-US" sz="1200">
                        <a:effectLst/>
                        <a:latin typeface="Times New Roman" panose="02020603050405020304" pitchFamily="18" charset="0"/>
                        <a:ea typeface="SimSun" panose="02010600030101010101" pitchFamily="2" charset="-122"/>
                      </a:endParaRPr>
                    </a:p>
                  </a:txBody>
                  <a:tcPr marL="47625" marR="47625" marT="95250" marB="95250" anchor="ctr"/>
                </a:tc>
                <a:tc>
                  <a:txBody>
                    <a:bodyPr/>
                    <a:lstStyle/>
                    <a:p>
                      <a:pPr marL="0" marR="0" algn="ctr">
                        <a:lnSpc>
                          <a:spcPct val="115000"/>
                        </a:lnSpc>
                        <a:spcBef>
                          <a:spcPts val="1500"/>
                        </a:spcBef>
                        <a:spcAft>
                          <a:spcPts val="0"/>
                        </a:spcAft>
                      </a:pPr>
                      <a:r>
                        <a:rPr lang="en-US" sz="1050">
                          <a:effectLst/>
                        </a:rPr>
                        <a:t>Common</a:t>
                      </a:r>
                      <a:br>
                        <a:rPr lang="en-US" sz="1050">
                          <a:effectLst/>
                        </a:rPr>
                      </a:br>
                      <a:r>
                        <a:rPr lang="en-US" sz="1050">
                          <a:effectLst/>
                        </a:rPr>
                        <a:t>Base</a:t>
                      </a:r>
                      <a:endParaRPr lang="en-US" sz="1200">
                        <a:effectLst/>
                        <a:latin typeface="Times New Roman" panose="02020603050405020304" pitchFamily="18" charset="0"/>
                        <a:ea typeface="SimSun" panose="02010600030101010101" pitchFamily="2" charset="-122"/>
                      </a:endParaRPr>
                    </a:p>
                  </a:txBody>
                  <a:tcPr marL="47625" marR="47625" marT="95250" marB="95250" anchor="ctr"/>
                </a:tc>
                <a:tc>
                  <a:txBody>
                    <a:bodyPr/>
                    <a:lstStyle/>
                    <a:p>
                      <a:pPr marL="0" marR="0" algn="ctr">
                        <a:lnSpc>
                          <a:spcPct val="115000"/>
                        </a:lnSpc>
                        <a:spcBef>
                          <a:spcPts val="1500"/>
                        </a:spcBef>
                        <a:spcAft>
                          <a:spcPts val="0"/>
                        </a:spcAft>
                      </a:pPr>
                      <a:r>
                        <a:rPr lang="en-US" sz="1050">
                          <a:effectLst/>
                        </a:rPr>
                        <a:t>Common</a:t>
                      </a:r>
                      <a:br>
                        <a:rPr lang="en-US" sz="1050">
                          <a:effectLst/>
                        </a:rPr>
                      </a:br>
                      <a:r>
                        <a:rPr lang="en-US" sz="1050">
                          <a:effectLst/>
                        </a:rPr>
                        <a:t>Emitter</a:t>
                      </a:r>
                      <a:endParaRPr lang="en-US" sz="1200">
                        <a:effectLst/>
                        <a:latin typeface="Times New Roman" panose="02020603050405020304" pitchFamily="18" charset="0"/>
                        <a:ea typeface="SimSun" panose="02010600030101010101" pitchFamily="2" charset="-122"/>
                      </a:endParaRPr>
                    </a:p>
                  </a:txBody>
                  <a:tcPr marL="47625" marR="47625" marT="95250" marB="95250" anchor="ctr"/>
                </a:tc>
                <a:tc>
                  <a:txBody>
                    <a:bodyPr/>
                    <a:lstStyle/>
                    <a:p>
                      <a:pPr marL="0" marR="0" algn="ctr">
                        <a:lnSpc>
                          <a:spcPct val="115000"/>
                        </a:lnSpc>
                        <a:spcBef>
                          <a:spcPts val="1500"/>
                        </a:spcBef>
                        <a:spcAft>
                          <a:spcPts val="0"/>
                        </a:spcAft>
                      </a:pPr>
                      <a:r>
                        <a:rPr lang="en-US" sz="1050">
                          <a:effectLst/>
                        </a:rPr>
                        <a:t>Common</a:t>
                      </a:r>
                      <a:br>
                        <a:rPr lang="en-US" sz="1050">
                          <a:effectLst/>
                        </a:rPr>
                      </a:br>
                      <a:r>
                        <a:rPr lang="en-US" sz="1050">
                          <a:effectLst/>
                        </a:rPr>
                        <a:t>Collector</a:t>
                      </a:r>
                      <a:endParaRPr lang="en-US" sz="1200">
                        <a:effectLst/>
                        <a:latin typeface="Times New Roman" panose="02020603050405020304" pitchFamily="18" charset="0"/>
                        <a:ea typeface="SimSun" panose="02010600030101010101" pitchFamily="2" charset="-122"/>
                      </a:endParaRPr>
                    </a:p>
                  </a:txBody>
                  <a:tcPr marL="47625" marR="47625" marT="95250" marB="95250" anchor="ctr"/>
                </a:tc>
                <a:extLst>
                  <a:ext uri="{0D108BD9-81ED-4DB2-BD59-A6C34878D82A}">
                    <a16:rowId xmlns:a16="http://schemas.microsoft.com/office/drawing/2014/main" val="2204627658"/>
                  </a:ext>
                </a:extLst>
              </a:tr>
              <a:tr h="411188">
                <a:tc>
                  <a:txBody>
                    <a:bodyPr/>
                    <a:lstStyle/>
                    <a:p>
                      <a:pPr marL="0" marR="0" algn="ctr">
                        <a:lnSpc>
                          <a:spcPct val="115000"/>
                        </a:lnSpc>
                        <a:spcBef>
                          <a:spcPts val="1500"/>
                        </a:spcBef>
                        <a:spcAft>
                          <a:spcPts val="0"/>
                        </a:spcAft>
                      </a:pPr>
                      <a:r>
                        <a:rPr lang="en-US" sz="1050">
                          <a:effectLst/>
                        </a:rPr>
                        <a:t>Input Impedance</a:t>
                      </a:r>
                      <a:endParaRPr lang="en-US" sz="1200">
                        <a:effectLst/>
                        <a:latin typeface="Times New Roman" panose="02020603050405020304" pitchFamily="18" charset="0"/>
                        <a:ea typeface="SimSun" panose="02010600030101010101" pitchFamily="2" charset="-122"/>
                      </a:endParaRPr>
                    </a:p>
                  </a:txBody>
                  <a:tcPr marL="47625" marR="47625" marT="95250" marB="95250" anchor="ctr"/>
                </a:tc>
                <a:tc>
                  <a:txBody>
                    <a:bodyPr/>
                    <a:lstStyle/>
                    <a:p>
                      <a:pPr marL="0" marR="0" algn="ctr">
                        <a:lnSpc>
                          <a:spcPct val="115000"/>
                        </a:lnSpc>
                        <a:spcBef>
                          <a:spcPts val="1500"/>
                        </a:spcBef>
                        <a:spcAft>
                          <a:spcPts val="0"/>
                        </a:spcAft>
                      </a:pPr>
                      <a:r>
                        <a:rPr lang="en-US" sz="1050">
                          <a:effectLst/>
                        </a:rPr>
                        <a:t>Low</a:t>
                      </a:r>
                      <a:endParaRPr lang="en-US" sz="1200">
                        <a:effectLst/>
                        <a:latin typeface="Times New Roman" panose="02020603050405020304" pitchFamily="18" charset="0"/>
                        <a:ea typeface="SimSun" panose="02010600030101010101" pitchFamily="2" charset="-122"/>
                      </a:endParaRPr>
                    </a:p>
                  </a:txBody>
                  <a:tcPr marL="47625" marR="47625" marT="95250" marB="95250" anchor="ctr"/>
                </a:tc>
                <a:tc>
                  <a:txBody>
                    <a:bodyPr/>
                    <a:lstStyle/>
                    <a:p>
                      <a:pPr marL="0" marR="0" algn="ctr">
                        <a:lnSpc>
                          <a:spcPct val="115000"/>
                        </a:lnSpc>
                        <a:spcBef>
                          <a:spcPts val="1500"/>
                        </a:spcBef>
                        <a:spcAft>
                          <a:spcPts val="0"/>
                        </a:spcAft>
                      </a:pPr>
                      <a:r>
                        <a:rPr lang="en-US" sz="1050">
                          <a:effectLst/>
                        </a:rPr>
                        <a:t>Medium</a:t>
                      </a:r>
                      <a:endParaRPr lang="en-US" sz="1200">
                        <a:effectLst/>
                        <a:latin typeface="Times New Roman" panose="02020603050405020304" pitchFamily="18" charset="0"/>
                        <a:ea typeface="SimSun" panose="02010600030101010101" pitchFamily="2" charset="-122"/>
                      </a:endParaRPr>
                    </a:p>
                  </a:txBody>
                  <a:tcPr marL="47625" marR="47625" marT="95250" marB="95250" anchor="ctr"/>
                </a:tc>
                <a:tc>
                  <a:txBody>
                    <a:bodyPr/>
                    <a:lstStyle/>
                    <a:p>
                      <a:pPr marL="0" marR="0" algn="ctr">
                        <a:lnSpc>
                          <a:spcPct val="115000"/>
                        </a:lnSpc>
                        <a:spcBef>
                          <a:spcPts val="1500"/>
                        </a:spcBef>
                        <a:spcAft>
                          <a:spcPts val="0"/>
                        </a:spcAft>
                      </a:pPr>
                      <a:r>
                        <a:rPr lang="en-US" sz="1050">
                          <a:effectLst/>
                        </a:rPr>
                        <a:t>High</a:t>
                      </a:r>
                      <a:endParaRPr lang="en-US" sz="1200">
                        <a:effectLst/>
                        <a:latin typeface="Times New Roman" panose="02020603050405020304" pitchFamily="18" charset="0"/>
                        <a:ea typeface="SimSun" panose="02010600030101010101" pitchFamily="2" charset="-122"/>
                      </a:endParaRPr>
                    </a:p>
                  </a:txBody>
                  <a:tcPr marL="47625" marR="47625" marT="95250" marB="95250" anchor="ctr"/>
                </a:tc>
                <a:extLst>
                  <a:ext uri="{0D108BD9-81ED-4DB2-BD59-A6C34878D82A}">
                    <a16:rowId xmlns:a16="http://schemas.microsoft.com/office/drawing/2014/main" val="2826117184"/>
                  </a:ext>
                </a:extLst>
              </a:tr>
              <a:tr h="411188">
                <a:tc>
                  <a:txBody>
                    <a:bodyPr/>
                    <a:lstStyle/>
                    <a:p>
                      <a:pPr marL="0" marR="0" algn="ctr">
                        <a:lnSpc>
                          <a:spcPct val="115000"/>
                        </a:lnSpc>
                        <a:spcBef>
                          <a:spcPts val="1500"/>
                        </a:spcBef>
                        <a:spcAft>
                          <a:spcPts val="0"/>
                        </a:spcAft>
                      </a:pPr>
                      <a:r>
                        <a:rPr lang="en-US" sz="1050">
                          <a:effectLst/>
                        </a:rPr>
                        <a:t>Output Impedance</a:t>
                      </a:r>
                      <a:endParaRPr lang="en-US" sz="1200">
                        <a:effectLst/>
                        <a:latin typeface="Times New Roman" panose="02020603050405020304" pitchFamily="18" charset="0"/>
                        <a:ea typeface="SimSun" panose="02010600030101010101" pitchFamily="2" charset="-122"/>
                      </a:endParaRPr>
                    </a:p>
                  </a:txBody>
                  <a:tcPr marL="47625" marR="47625" marT="95250" marB="95250" anchor="ctr"/>
                </a:tc>
                <a:tc>
                  <a:txBody>
                    <a:bodyPr/>
                    <a:lstStyle/>
                    <a:p>
                      <a:pPr marL="0" marR="0" algn="ctr">
                        <a:lnSpc>
                          <a:spcPct val="115000"/>
                        </a:lnSpc>
                        <a:spcBef>
                          <a:spcPts val="1500"/>
                        </a:spcBef>
                        <a:spcAft>
                          <a:spcPts val="0"/>
                        </a:spcAft>
                      </a:pPr>
                      <a:r>
                        <a:rPr lang="en-US" sz="1050">
                          <a:effectLst/>
                        </a:rPr>
                        <a:t>Very High</a:t>
                      </a:r>
                      <a:endParaRPr lang="en-US" sz="1200">
                        <a:effectLst/>
                        <a:latin typeface="Times New Roman" panose="02020603050405020304" pitchFamily="18" charset="0"/>
                        <a:ea typeface="SimSun" panose="02010600030101010101" pitchFamily="2" charset="-122"/>
                      </a:endParaRPr>
                    </a:p>
                  </a:txBody>
                  <a:tcPr marL="47625" marR="47625" marT="95250" marB="95250" anchor="ctr"/>
                </a:tc>
                <a:tc>
                  <a:txBody>
                    <a:bodyPr/>
                    <a:lstStyle/>
                    <a:p>
                      <a:pPr marL="0" marR="0" algn="ctr">
                        <a:lnSpc>
                          <a:spcPct val="115000"/>
                        </a:lnSpc>
                        <a:spcBef>
                          <a:spcPts val="1500"/>
                        </a:spcBef>
                        <a:spcAft>
                          <a:spcPts val="0"/>
                        </a:spcAft>
                      </a:pPr>
                      <a:r>
                        <a:rPr lang="en-US" sz="1050">
                          <a:effectLst/>
                        </a:rPr>
                        <a:t>High</a:t>
                      </a:r>
                      <a:endParaRPr lang="en-US" sz="1200">
                        <a:effectLst/>
                        <a:latin typeface="Times New Roman" panose="02020603050405020304" pitchFamily="18" charset="0"/>
                        <a:ea typeface="SimSun" panose="02010600030101010101" pitchFamily="2" charset="-122"/>
                      </a:endParaRPr>
                    </a:p>
                  </a:txBody>
                  <a:tcPr marL="47625" marR="47625" marT="95250" marB="95250" anchor="ctr"/>
                </a:tc>
                <a:tc>
                  <a:txBody>
                    <a:bodyPr/>
                    <a:lstStyle/>
                    <a:p>
                      <a:pPr marL="0" marR="0" algn="ctr">
                        <a:lnSpc>
                          <a:spcPct val="115000"/>
                        </a:lnSpc>
                        <a:spcBef>
                          <a:spcPts val="1500"/>
                        </a:spcBef>
                        <a:spcAft>
                          <a:spcPts val="0"/>
                        </a:spcAft>
                      </a:pPr>
                      <a:r>
                        <a:rPr lang="en-US" sz="1050">
                          <a:effectLst/>
                        </a:rPr>
                        <a:t>Low</a:t>
                      </a:r>
                      <a:endParaRPr lang="en-US" sz="1200">
                        <a:effectLst/>
                        <a:latin typeface="Times New Roman" panose="02020603050405020304" pitchFamily="18" charset="0"/>
                        <a:ea typeface="SimSun" panose="02010600030101010101" pitchFamily="2" charset="-122"/>
                      </a:endParaRPr>
                    </a:p>
                  </a:txBody>
                  <a:tcPr marL="47625" marR="47625" marT="95250" marB="95250" anchor="ctr"/>
                </a:tc>
                <a:extLst>
                  <a:ext uri="{0D108BD9-81ED-4DB2-BD59-A6C34878D82A}">
                    <a16:rowId xmlns:a16="http://schemas.microsoft.com/office/drawing/2014/main" val="1656614164"/>
                  </a:ext>
                </a:extLst>
              </a:tr>
              <a:tr h="412122">
                <a:tc>
                  <a:txBody>
                    <a:bodyPr/>
                    <a:lstStyle/>
                    <a:p>
                      <a:pPr marL="0" marR="0" algn="ctr">
                        <a:lnSpc>
                          <a:spcPct val="115000"/>
                        </a:lnSpc>
                        <a:spcBef>
                          <a:spcPts val="1500"/>
                        </a:spcBef>
                        <a:spcAft>
                          <a:spcPts val="0"/>
                        </a:spcAft>
                      </a:pPr>
                      <a:r>
                        <a:rPr lang="en-US" sz="1050">
                          <a:effectLst/>
                        </a:rPr>
                        <a:t>Phase Shift</a:t>
                      </a:r>
                      <a:endParaRPr lang="en-US" sz="1200">
                        <a:effectLst/>
                        <a:latin typeface="Times New Roman" panose="02020603050405020304" pitchFamily="18" charset="0"/>
                        <a:ea typeface="SimSun" panose="02010600030101010101" pitchFamily="2" charset="-122"/>
                      </a:endParaRPr>
                    </a:p>
                  </a:txBody>
                  <a:tcPr marL="47625" marR="47625" marT="95250" marB="95250" anchor="ctr"/>
                </a:tc>
                <a:tc>
                  <a:txBody>
                    <a:bodyPr/>
                    <a:lstStyle/>
                    <a:p>
                      <a:pPr marL="0" marR="0" algn="ctr">
                        <a:lnSpc>
                          <a:spcPct val="115000"/>
                        </a:lnSpc>
                        <a:spcBef>
                          <a:spcPts val="1500"/>
                        </a:spcBef>
                        <a:spcAft>
                          <a:spcPts val="0"/>
                        </a:spcAft>
                      </a:pPr>
                      <a:r>
                        <a:rPr lang="en-US" sz="1050">
                          <a:effectLst/>
                        </a:rPr>
                        <a:t>0</a:t>
                      </a:r>
                      <a:r>
                        <a:rPr lang="en-US" sz="800" baseline="30000">
                          <a:effectLst/>
                        </a:rPr>
                        <a:t>o</a:t>
                      </a:r>
                      <a:endParaRPr lang="en-US" sz="1200">
                        <a:effectLst/>
                        <a:latin typeface="Times New Roman" panose="02020603050405020304" pitchFamily="18" charset="0"/>
                        <a:ea typeface="SimSun" panose="02010600030101010101" pitchFamily="2" charset="-122"/>
                      </a:endParaRPr>
                    </a:p>
                  </a:txBody>
                  <a:tcPr marL="47625" marR="47625" marT="95250" marB="95250" anchor="ctr"/>
                </a:tc>
                <a:tc>
                  <a:txBody>
                    <a:bodyPr/>
                    <a:lstStyle/>
                    <a:p>
                      <a:pPr marL="0" marR="0" algn="ctr">
                        <a:lnSpc>
                          <a:spcPct val="115000"/>
                        </a:lnSpc>
                        <a:spcBef>
                          <a:spcPts val="1500"/>
                        </a:spcBef>
                        <a:spcAft>
                          <a:spcPts val="0"/>
                        </a:spcAft>
                      </a:pPr>
                      <a:r>
                        <a:rPr lang="en-US" sz="1050">
                          <a:effectLst/>
                        </a:rPr>
                        <a:t>180</a:t>
                      </a:r>
                      <a:r>
                        <a:rPr lang="en-US" sz="800" baseline="30000">
                          <a:effectLst/>
                        </a:rPr>
                        <a:t>o</a:t>
                      </a:r>
                      <a:endParaRPr lang="en-US" sz="1200">
                        <a:effectLst/>
                        <a:latin typeface="Times New Roman" panose="02020603050405020304" pitchFamily="18" charset="0"/>
                        <a:ea typeface="SimSun" panose="02010600030101010101" pitchFamily="2" charset="-122"/>
                      </a:endParaRPr>
                    </a:p>
                  </a:txBody>
                  <a:tcPr marL="47625" marR="47625" marT="95250" marB="95250" anchor="ctr"/>
                </a:tc>
                <a:tc>
                  <a:txBody>
                    <a:bodyPr/>
                    <a:lstStyle/>
                    <a:p>
                      <a:pPr marL="0" marR="0" algn="ctr">
                        <a:lnSpc>
                          <a:spcPct val="115000"/>
                        </a:lnSpc>
                        <a:spcBef>
                          <a:spcPts val="1500"/>
                        </a:spcBef>
                        <a:spcAft>
                          <a:spcPts val="0"/>
                        </a:spcAft>
                      </a:pPr>
                      <a:r>
                        <a:rPr lang="en-US" sz="1050">
                          <a:effectLst/>
                        </a:rPr>
                        <a:t>0</a:t>
                      </a:r>
                      <a:r>
                        <a:rPr lang="en-US" sz="800" baseline="30000">
                          <a:effectLst/>
                        </a:rPr>
                        <a:t>o</a:t>
                      </a:r>
                      <a:endParaRPr lang="en-US" sz="1200">
                        <a:effectLst/>
                        <a:latin typeface="Times New Roman" panose="02020603050405020304" pitchFamily="18" charset="0"/>
                        <a:ea typeface="SimSun" panose="02010600030101010101" pitchFamily="2" charset="-122"/>
                      </a:endParaRPr>
                    </a:p>
                  </a:txBody>
                  <a:tcPr marL="47625" marR="47625" marT="95250" marB="95250" anchor="ctr"/>
                </a:tc>
                <a:extLst>
                  <a:ext uri="{0D108BD9-81ED-4DB2-BD59-A6C34878D82A}">
                    <a16:rowId xmlns:a16="http://schemas.microsoft.com/office/drawing/2014/main" val="841553020"/>
                  </a:ext>
                </a:extLst>
              </a:tr>
              <a:tr h="411188">
                <a:tc>
                  <a:txBody>
                    <a:bodyPr/>
                    <a:lstStyle/>
                    <a:p>
                      <a:pPr marL="0" marR="0" algn="ctr">
                        <a:lnSpc>
                          <a:spcPct val="115000"/>
                        </a:lnSpc>
                        <a:spcBef>
                          <a:spcPts val="1500"/>
                        </a:spcBef>
                        <a:spcAft>
                          <a:spcPts val="0"/>
                        </a:spcAft>
                      </a:pPr>
                      <a:r>
                        <a:rPr lang="en-US" sz="1050">
                          <a:effectLst/>
                        </a:rPr>
                        <a:t>Voltage Gain</a:t>
                      </a:r>
                      <a:endParaRPr lang="en-US" sz="1200">
                        <a:effectLst/>
                        <a:latin typeface="Times New Roman" panose="02020603050405020304" pitchFamily="18" charset="0"/>
                        <a:ea typeface="SimSun" panose="02010600030101010101" pitchFamily="2" charset="-122"/>
                      </a:endParaRPr>
                    </a:p>
                  </a:txBody>
                  <a:tcPr marL="47625" marR="47625" marT="95250" marB="95250" anchor="ctr"/>
                </a:tc>
                <a:tc>
                  <a:txBody>
                    <a:bodyPr/>
                    <a:lstStyle/>
                    <a:p>
                      <a:pPr marL="0" marR="0" algn="ctr">
                        <a:lnSpc>
                          <a:spcPct val="115000"/>
                        </a:lnSpc>
                        <a:spcBef>
                          <a:spcPts val="1500"/>
                        </a:spcBef>
                        <a:spcAft>
                          <a:spcPts val="0"/>
                        </a:spcAft>
                      </a:pPr>
                      <a:r>
                        <a:rPr lang="en-US" sz="1050">
                          <a:effectLst/>
                        </a:rPr>
                        <a:t>High</a:t>
                      </a:r>
                      <a:endParaRPr lang="en-US" sz="1200">
                        <a:effectLst/>
                        <a:latin typeface="Times New Roman" panose="02020603050405020304" pitchFamily="18" charset="0"/>
                        <a:ea typeface="SimSun" panose="02010600030101010101" pitchFamily="2" charset="-122"/>
                      </a:endParaRPr>
                    </a:p>
                  </a:txBody>
                  <a:tcPr marL="47625" marR="47625" marT="95250" marB="95250" anchor="ctr"/>
                </a:tc>
                <a:tc>
                  <a:txBody>
                    <a:bodyPr/>
                    <a:lstStyle/>
                    <a:p>
                      <a:pPr marL="0" marR="0" algn="ctr">
                        <a:lnSpc>
                          <a:spcPct val="115000"/>
                        </a:lnSpc>
                        <a:spcBef>
                          <a:spcPts val="1500"/>
                        </a:spcBef>
                        <a:spcAft>
                          <a:spcPts val="0"/>
                        </a:spcAft>
                      </a:pPr>
                      <a:r>
                        <a:rPr lang="en-US" sz="1050" dirty="0">
                          <a:effectLst/>
                        </a:rPr>
                        <a:t>Medium</a:t>
                      </a:r>
                      <a:endParaRPr lang="en-US" sz="1200" dirty="0">
                        <a:effectLst/>
                        <a:latin typeface="Times New Roman" panose="02020603050405020304" pitchFamily="18" charset="0"/>
                        <a:ea typeface="SimSun" panose="02010600030101010101" pitchFamily="2" charset="-122"/>
                      </a:endParaRPr>
                    </a:p>
                  </a:txBody>
                  <a:tcPr marL="47625" marR="47625" marT="95250" marB="95250" anchor="ctr"/>
                </a:tc>
                <a:tc>
                  <a:txBody>
                    <a:bodyPr/>
                    <a:lstStyle/>
                    <a:p>
                      <a:pPr marL="0" marR="0" algn="ctr">
                        <a:lnSpc>
                          <a:spcPct val="115000"/>
                        </a:lnSpc>
                        <a:spcBef>
                          <a:spcPts val="1500"/>
                        </a:spcBef>
                        <a:spcAft>
                          <a:spcPts val="0"/>
                        </a:spcAft>
                      </a:pPr>
                      <a:r>
                        <a:rPr lang="en-US" sz="1050">
                          <a:effectLst/>
                        </a:rPr>
                        <a:t>Low</a:t>
                      </a:r>
                      <a:endParaRPr lang="en-US" sz="1200">
                        <a:effectLst/>
                        <a:latin typeface="Times New Roman" panose="02020603050405020304" pitchFamily="18" charset="0"/>
                        <a:ea typeface="SimSun" panose="02010600030101010101" pitchFamily="2" charset="-122"/>
                      </a:endParaRPr>
                    </a:p>
                  </a:txBody>
                  <a:tcPr marL="47625" marR="47625" marT="95250" marB="95250" anchor="ctr"/>
                </a:tc>
                <a:extLst>
                  <a:ext uri="{0D108BD9-81ED-4DB2-BD59-A6C34878D82A}">
                    <a16:rowId xmlns:a16="http://schemas.microsoft.com/office/drawing/2014/main" val="2307214625"/>
                  </a:ext>
                </a:extLst>
              </a:tr>
              <a:tr h="411188">
                <a:tc>
                  <a:txBody>
                    <a:bodyPr/>
                    <a:lstStyle/>
                    <a:p>
                      <a:pPr marL="0" marR="0" algn="ctr">
                        <a:lnSpc>
                          <a:spcPct val="115000"/>
                        </a:lnSpc>
                        <a:spcBef>
                          <a:spcPts val="1500"/>
                        </a:spcBef>
                        <a:spcAft>
                          <a:spcPts val="0"/>
                        </a:spcAft>
                      </a:pPr>
                      <a:r>
                        <a:rPr lang="en-US" sz="1050">
                          <a:effectLst/>
                        </a:rPr>
                        <a:t>Current Gain</a:t>
                      </a:r>
                      <a:endParaRPr lang="en-US" sz="1200">
                        <a:effectLst/>
                        <a:latin typeface="Times New Roman" panose="02020603050405020304" pitchFamily="18" charset="0"/>
                        <a:ea typeface="SimSun" panose="02010600030101010101" pitchFamily="2" charset="-122"/>
                      </a:endParaRPr>
                    </a:p>
                  </a:txBody>
                  <a:tcPr marL="47625" marR="47625" marT="95250" marB="95250" anchor="ctr"/>
                </a:tc>
                <a:tc>
                  <a:txBody>
                    <a:bodyPr/>
                    <a:lstStyle/>
                    <a:p>
                      <a:pPr marL="0" marR="0" algn="ctr">
                        <a:lnSpc>
                          <a:spcPct val="115000"/>
                        </a:lnSpc>
                        <a:spcBef>
                          <a:spcPts val="1500"/>
                        </a:spcBef>
                        <a:spcAft>
                          <a:spcPts val="0"/>
                        </a:spcAft>
                      </a:pPr>
                      <a:r>
                        <a:rPr lang="en-US" sz="1050">
                          <a:effectLst/>
                        </a:rPr>
                        <a:t>Low</a:t>
                      </a:r>
                      <a:endParaRPr lang="en-US" sz="1200">
                        <a:effectLst/>
                        <a:latin typeface="Times New Roman" panose="02020603050405020304" pitchFamily="18" charset="0"/>
                        <a:ea typeface="SimSun" panose="02010600030101010101" pitchFamily="2" charset="-122"/>
                      </a:endParaRPr>
                    </a:p>
                  </a:txBody>
                  <a:tcPr marL="47625" marR="47625" marT="95250" marB="95250" anchor="ctr"/>
                </a:tc>
                <a:tc>
                  <a:txBody>
                    <a:bodyPr/>
                    <a:lstStyle/>
                    <a:p>
                      <a:pPr marL="0" marR="0" algn="ctr">
                        <a:lnSpc>
                          <a:spcPct val="115000"/>
                        </a:lnSpc>
                        <a:spcBef>
                          <a:spcPts val="1500"/>
                        </a:spcBef>
                        <a:spcAft>
                          <a:spcPts val="0"/>
                        </a:spcAft>
                      </a:pPr>
                      <a:r>
                        <a:rPr lang="en-US" sz="1050">
                          <a:effectLst/>
                        </a:rPr>
                        <a:t>Medium</a:t>
                      </a:r>
                      <a:endParaRPr lang="en-US" sz="1200">
                        <a:effectLst/>
                        <a:latin typeface="Times New Roman" panose="02020603050405020304" pitchFamily="18" charset="0"/>
                        <a:ea typeface="SimSun" panose="02010600030101010101" pitchFamily="2" charset="-122"/>
                      </a:endParaRPr>
                    </a:p>
                  </a:txBody>
                  <a:tcPr marL="47625" marR="47625" marT="95250" marB="95250" anchor="ctr"/>
                </a:tc>
                <a:tc>
                  <a:txBody>
                    <a:bodyPr/>
                    <a:lstStyle/>
                    <a:p>
                      <a:pPr marL="0" marR="0" algn="ctr">
                        <a:lnSpc>
                          <a:spcPct val="115000"/>
                        </a:lnSpc>
                        <a:spcBef>
                          <a:spcPts val="1500"/>
                        </a:spcBef>
                        <a:spcAft>
                          <a:spcPts val="0"/>
                        </a:spcAft>
                      </a:pPr>
                      <a:r>
                        <a:rPr lang="en-US" sz="1050">
                          <a:effectLst/>
                        </a:rPr>
                        <a:t>High</a:t>
                      </a:r>
                      <a:endParaRPr lang="en-US" sz="1200">
                        <a:effectLst/>
                        <a:latin typeface="Times New Roman" panose="02020603050405020304" pitchFamily="18" charset="0"/>
                        <a:ea typeface="SimSun" panose="02010600030101010101" pitchFamily="2" charset="-122"/>
                      </a:endParaRPr>
                    </a:p>
                  </a:txBody>
                  <a:tcPr marL="47625" marR="47625" marT="95250" marB="95250" anchor="ctr"/>
                </a:tc>
                <a:extLst>
                  <a:ext uri="{0D108BD9-81ED-4DB2-BD59-A6C34878D82A}">
                    <a16:rowId xmlns:a16="http://schemas.microsoft.com/office/drawing/2014/main" val="4032952592"/>
                  </a:ext>
                </a:extLst>
              </a:tr>
              <a:tr h="411188">
                <a:tc>
                  <a:txBody>
                    <a:bodyPr/>
                    <a:lstStyle/>
                    <a:p>
                      <a:pPr marL="0" marR="0" algn="ctr">
                        <a:lnSpc>
                          <a:spcPct val="115000"/>
                        </a:lnSpc>
                        <a:spcBef>
                          <a:spcPts val="1500"/>
                        </a:spcBef>
                        <a:spcAft>
                          <a:spcPts val="0"/>
                        </a:spcAft>
                      </a:pPr>
                      <a:r>
                        <a:rPr lang="en-US" sz="1050">
                          <a:effectLst/>
                        </a:rPr>
                        <a:t>Power Gain</a:t>
                      </a:r>
                      <a:endParaRPr lang="en-US" sz="1200">
                        <a:effectLst/>
                        <a:latin typeface="Times New Roman" panose="02020603050405020304" pitchFamily="18" charset="0"/>
                        <a:ea typeface="SimSun" panose="02010600030101010101" pitchFamily="2" charset="-122"/>
                      </a:endParaRPr>
                    </a:p>
                  </a:txBody>
                  <a:tcPr marL="47625" marR="47625" marT="95250" marB="95250" anchor="ctr"/>
                </a:tc>
                <a:tc>
                  <a:txBody>
                    <a:bodyPr/>
                    <a:lstStyle/>
                    <a:p>
                      <a:pPr marL="0" marR="0" algn="ctr">
                        <a:lnSpc>
                          <a:spcPct val="115000"/>
                        </a:lnSpc>
                        <a:spcBef>
                          <a:spcPts val="1500"/>
                        </a:spcBef>
                        <a:spcAft>
                          <a:spcPts val="0"/>
                        </a:spcAft>
                      </a:pPr>
                      <a:r>
                        <a:rPr lang="en-US" sz="1050">
                          <a:effectLst/>
                        </a:rPr>
                        <a:t>Low</a:t>
                      </a:r>
                      <a:endParaRPr lang="en-US" sz="1200">
                        <a:effectLst/>
                        <a:latin typeface="Times New Roman" panose="02020603050405020304" pitchFamily="18" charset="0"/>
                        <a:ea typeface="SimSun" panose="02010600030101010101" pitchFamily="2" charset="-122"/>
                      </a:endParaRPr>
                    </a:p>
                  </a:txBody>
                  <a:tcPr marL="47625" marR="47625" marT="95250" marB="95250" anchor="ctr"/>
                </a:tc>
                <a:tc>
                  <a:txBody>
                    <a:bodyPr/>
                    <a:lstStyle/>
                    <a:p>
                      <a:pPr marL="0" marR="0" algn="ctr">
                        <a:lnSpc>
                          <a:spcPct val="115000"/>
                        </a:lnSpc>
                        <a:spcBef>
                          <a:spcPts val="1500"/>
                        </a:spcBef>
                        <a:spcAft>
                          <a:spcPts val="0"/>
                        </a:spcAft>
                      </a:pPr>
                      <a:r>
                        <a:rPr lang="en-US" sz="1050">
                          <a:effectLst/>
                        </a:rPr>
                        <a:t>Very High</a:t>
                      </a:r>
                      <a:endParaRPr lang="en-US" sz="1200">
                        <a:effectLst/>
                        <a:latin typeface="Times New Roman" panose="02020603050405020304" pitchFamily="18" charset="0"/>
                        <a:ea typeface="SimSun" panose="02010600030101010101" pitchFamily="2" charset="-122"/>
                      </a:endParaRPr>
                    </a:p>
                  </a:txBody>
                  <a:tcPr marL="47625" marR="47625" marT="95250" marB="95250" anchor="ctr"/>
                </a:tc>
                <a:tc>
                  <a:txBody>
                    <a:bodyPr/>
                    <a:lstStyle/>
                    <a:p>
                      <a:pPr marL="0" marR="0" algn="ctr">
                        <a:lnSpc>
                          <a:spcPct val="115000"/>
                        </a:lnSpc>
                        <a:spcBef>
                          <a:spcPts val="1500"/>
                        </a:spcBef>
                        <a:spcAft>
                          <a:spcPts val="0"/>
                        </a:spcAft>
                      </a:pPr>
                      <a:r>
                        <a:rPr lang="en-US" sz="1050" dirty="0">
                          <a:effectLst/>
                        </a:rPr>
                        <a:t>Medium</a:t>
                      </a:r>
                      <a:endParaRPr lang="en-US" sz="1200" dirty="0">
                        <a:effectLst/>
                        <a:latin typeface="Times New Roman" panose="02020603050405020304" pitchFamily="18" charset="0"/>
                        <a:ea typeface="SimSun" panose="02010600030101010101" pitchFamily="2" charset="-122"/>
                      </a:endParaRPr>
                    </a:p>
                  </a:txBody>
                  <a:tcPr marL="47625" marR="47625" marT="95250" marB="95250" anchor="ctr"/>
                </a:tc>
                <a:extLst>
                  <a:ext uri="{0D108BD9-81ED-4DB2-BD59-A6C34878D82A}">
                    <a16:rowId xmlns:a16="http://schemas.microsoft.com/office/drawing/2014/main" val="3439076891"/>
                  </a:ext>
                </a:extLst>
              </a:tr>
            </a:tbl>
          </a:graphicData>
        </a:graphic>
      </p:graphicFrame>
    </p:spTree>
    <p:extLst>
      <p:ext uri="{BB962C8B-B14F-4D97-AF65-F5344CB8AC3E}">
        <p14:creationId xmlns:p14="http://schemas.microsoft.com/office/powerpoint/2010/main" val="31649094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956C316BA6F9449A2F726CCA3E44004" ma:contentTypeVersion="11" ma:contentTypeDescription="Create a new document." ma:contentTypeScope="" ma:versionID="67739e5a04e42ebfd497b1a68401a993">
  <xsd:schema xmlns:xsd="http://www.w3.org/2001/XMLSchema" xmlns:xs="http://www.w3.org/2001/XMLSchema" xmlns:p="http://schemas.microsoft.com/office/2006/metadata/properties" xmlns:ns2="fc7da1f0-6d58-44bd-9d93-a988c4590f59" xmlns:ns3="e5fce955-6e62-4519-9143-34cd4c0117c4" targetNamespace="http://schemas.microsoft.com/office/2006/metadata/properties" ma:root="true" ma:fieldsID="7323a62418a3d4eb240c2b8f87a128c7" ns2:_="" ns3:_="">
    <xsd:import namespace="fc7da1f0-6d58-44bd-9d93-a988c4590f59"/>
    <xsd:import namespace="e5fce955-6e62-4519-9143-34cd4c0117c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c7da1f0-6d58-44bd-9d93-a988c4590f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5ecaf37-f932-4642-a22a-9023f16d9281"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e5fce955-6e62-4519-9143-34cd4c0117c4"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f37def0-da8e-4621-a0b3-e3a231c71cbf}" ma:internalName="TaxCatchAll" ma:showField="CatchAllData" ma:web="e5fce955-6e62-4519-9143-34cd4c0117c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c7da1f0-6d58-44bd-9d93-a988c4590f59">
      <Terms xmlns="http://schemas.microsoft.com/office/infopath/2007/PartnerControls"/>
    </lcf76f155ced4ddcb4097134ff3c332f>
    <TaxCatchAll xmlns="e5fce955-6e62-4519-9143-34cd4c0117c4" xsi:nil="true"/>
  </documentManagement>
</p:properties>
</file>

<file path=customXml/itemProps1.xml><?xml version="1.0" encoding="utf-8"?>
<ds:datastoreItem xmlns:ds="http://schemas.openxmlformats.org/officeDocument/2006/customXml" ds:itemID="{5D923BEC-8CB8-47DB-ADC2-2813846A2A9F}"/>
</file>

<file path=customXml/itemProps2.xml><?xml version="1.0" encoding="utf-8"?>
<ds:datastoreItem xmlns:ds="http://schemas.openxmlformats.org/officeDocument/2006/customXml" ds:itemID="{819655AF-B4BF-4616-967B-7E430B4B8C7C}"/>
</file>

<file path=customXml/itemProps3.xml><?xml version="1.0" encoding="utf-8"?>
<ds:datastoreItem xmlns:ds="http://schemas.openxmlformats.org/officeDocument/2006/customXml" ds:itemID="{A2ACCF1D-A4ED-47A9-98AB-27FB8C3B4964}"/>
</file>

<file path=docProps/app.xml><?xml version="1.0" encoding="utf-8"?>
<Properties xmlns="http://schemas.openxmlformats.org/officeDocument/2006/extended-properties" xmlns:vt="http://schemas.openxmlformats.org/officeDocument/2006/docPropsVTypes">
  <TotalTime>22</TotalTime>
  <Words>468</Words>
  <Application>Microsoft Office PowerPoint</Application>
  <PresentationFormat>Widescreen</PresentationFormat>
  <Paragraphs>32</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Calibri Light</vt:lpstr>
      <vt:lpstr>Times New Roman</vt:lpstr>
      <vt:lpstr>Office Theme</vt:lpstr>
      <vt:lpstr>Bipolar Transistor   The Bipolar Junction Transistor is a semiconductor device which can be used for switching or amplification.   In the diode tutorials we saw that simple diodes are made up from two pieces of semiconductor material to form a simple pn-junction and we also learnt about their properties and characteristics.   If we now join together two individual signal diodes back-to-back, this will give us two PN-junctions connected together in series that share a common P or N terminal. The fusion of these two diodes produces a three layer, two junction, three terminal device forming the basis of a Bipolar Junction Transistor, or BJT for short.        </vt:lpstr>
      <vt:lpstr>Transistors are three terminal active devices made from different semiconductor materials that can act as either an insulator or a conductor by the application of a small signal voltage. The transistor’s ability to change between these two states enables it to have two basic functions: “switching” (digital electronics) or “amplification” (analogue electronics). Then bipolar transistors have the ability to operate within three different regions: Active Region   –   the transistor operates as an amplifier and Ic = β*Ib Saturation   –   the transistor is “Fully-ON” operating as a switch and Ic = I(saturation) Cut-off   –   the transistor is “Fully-OFF” operating as a switch and Ic = 0               </vt:lpstr>
      <vt:lpstr>Bipolar Transistor Configurations As the Bipolar Transistor is a three terminal device, there are basically three possible ways to connect it within an electronic circuit with one terminal being common to both the input and output. Each method of connection responding differently to its input signal within a circuit as the static characteristics of the transistor vary with each circuit arrangement. Common Base Configuration   –   has Voltage Gain but no Current Gain. Common Emitter Configuration   –   has both Current and Voltage Gain. Common Collector Configuration   –   has Current Gain but no Voltage Gain.            Common Base                 Common Emitter                                                                      Common Collector       </vt:lpstr>
      <vt:lpstr>Bipolar Transistor Configurations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Bipolar Transistor   The Bipolar Junction Transistor is a semiconductor device which can be used for switching or amplification.   In the diode tutorials we saw that simple diodes are made up from two pieces of semiconductor material to form a simple pn-junction and we also learnt about their properties and characteristics.   If we now join together two individual signal diodes back-to-back, this will give us two PN-junctions connected together in series that share a common P or N terminal. The fusion of these two diodes produces a three layer, two junction, three terminal device forming the basis of a Bipolar Junction Transistor, or BJT for short.        </dc:title>
  <dc:creator>xp11</dc:creator>
  <cp:lastModifiedBy>xp11</cp:lastModifiedBy>
  <cp:revision>5</cp:revision>
  <dcterms:created xsi:type="dcterms:W3CDTF">2020-08-04T18:17:56Z</dcterms:created>
  <dcterms:modified xsi:type="dcterms:W3CDTF">2020-08-04T18:40:10Z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0x010100A956C316BA6F9449A2F726CCA3E44004</vt:lpwstr>
  </property>
</Properties>
</file>